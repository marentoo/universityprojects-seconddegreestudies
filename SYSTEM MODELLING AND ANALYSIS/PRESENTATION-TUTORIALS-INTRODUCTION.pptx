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Proxima Nova"/>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roximaNova-italic.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ProximaNova-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ProximaNova-bold.fntdata"/><Relationship Id="rId6" Type="http://schemas.openxmlformats.org/officeDocument/2006/relationships/slide" Target="slides/slide1.xml"/><Relationship Id="rId18" Type="http://schemas.openxmlformats.org/officeDocument/2006/relationships/font" Target="fonts/ProximaNova-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ikit-learn.org/stable/modules/generated/sklearn.preprocessing.OneHotEncoder.html" TargetMode="External"/><Relationship Id="rId3" Type="http://schemas.openxmlformats.org/officeDocument/2006/relationships/hyperlink" Target="http://scikit-learn.org/stable/modules/preprocessing_targets.html#preprocessing-targets" TargetMode="External"/><Relationship Id="rId4" Type="http://schemas.openxmlformats.org/officeDocument/2006/relationships/hyperlink" Target="http://scikit-learn.org/stable/modules/preprocessing_targets.html#preprocessing-targets" TargetMode="External"/><Relationship Id="rId5" Type="http://schemas.openxmlformats.org/officeDocument/2006/relationships/hyperlink" Target="http://scikit-learn.org/stable/modules/multiclass.html#one-vs-the-rest" TargetMode="External"/><Relationship Id="rId6" Type="http://schemas.openxmlformats.org/officeDocument/2006/relationships/hyperlink" Target="http://scikit-learn.org/stable/modules/multiclass.html#one-vs-one" TargetMode="External"/><Relationship Id="rId7" Type="http://schemas.openxmlformats.org/officeDocument/2006/relationships/hyperlink" Target="http://scikit-learn.org/stable/modules/multiclass.html#one-vs-one"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1068bdb5087_5_4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1068bdb5087_5_4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1068bdb5087_5_4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1068bdb5087_5_4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Sebastian: Ok, so what is classification? There is a definition on the slide, but to put in into more practical words. We could say classification is the process of predicting the class of given data points. Classes are sometimes called as targets, labels or categories. For example, spam detection in email service providers can be identified as a classification problem. This is s binary classification since there are only 2 classes as spam and not spam. A classifier utilizes some training data to understand how given input variables relate to the class. In this case, known spam and non-spam emails have to be used as the training data. When the classifier is trained accurately, it can be used to detect an unknown email. Classification belongs to the category of supervised learning where the targets also provided with the input data. There are many applications in classification in many domains such as in credit approval, medical diagnosis, target marketing etcetera</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1068bdb5087_7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1068bdb5087_7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pl">
                <a:solidFill>
                  <a:schemeClr val="dk1"/>
                </a:solidFill>
              </a:rPr>
              <a:t>Sebastian: Dataset on which we will be working consists of data which will allow us to work on recognition of emotions in texts. Input available in this dataset is text of a comment. We will be representing this input as continuous bag of words. Continuous bag of words model architecture tries to predict the target word by trying to understand the context of the surrounding words. The words in the dataset are converted to a vector representation. Output of this data set represents emotions, not only positive or negative affectivity, but also a measurement of how calming or how exciting the information is.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1068bdb5087_5_4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1068bdb5087_5_4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1068bdb5087_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1068bdb5087_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Support Vector machine is a supervised machine </a:t>
            </a:r>
            <a:r>
              <a:rPr lang="pl"/>
              <a:t>learning</a:t>
            </a:r>
            <a:r>
              <a:rPr lang="pl"/>
              <a:t> algorithm. </a:t>
            </a:r>
            <a:r>
              <a:rPr lang="pl">
                <a:solidFill>
                  <a:schemeClr val="dk1"/>
                </a:solidFill>
              </a:rPr>
              <a:t>In simplest terms SVM finds a hyperplane that creates boundary between types of data. </a:t>
            </a:r>
            <a:r>
              <a:rPr lang="pl"/>
              <a:t> In the </a:t>
            </a:r>
            <a:r>
              <a:rPr lang="pl"/>
              <a:t>picture</a:t>
            </a:r>
            <a:r>
              <a:rPr lang="pl"/>
              <a:t> you can see two </a:t>
            </a:r>
            <a:r>
              <a:rPr lang="pl"/>
              <a:t>different</a:t>
            </a:r>
            <a:r>
              <a:rPr lang="pl"/>
              <a:t> hyperplanes that separate data. I think most people would  be more confident in the prediction from the model a. It is because the decision </a:t>
            </a:r>
            <a:r>
              <a:rPr lang="pl"/>
              <a:t>boundary</a:t>
            </a:r>
            <a:r>
              <a:rPr lang="pl"/>
              <a:t> has a greater distance to the closest data points. SVM is used to find the optimal hyperplane which means the a hyperplane that </a:t>
            </a:r>
            <a:r>
              <a:rPr lang="pl"/>
              <a:t>maximizes</a:t>
            </a:r>
            <a:r>
              <a:rPr lang="pl"/>
              <a:t> the distance between closest data points from </a:t>
            </a:r>
            <a:r>
              <a:rPr lang="pl"/>
              <a:t>different</a:t>
            </a:r>
            <a:r>
              <a:rPr lang="pl"/>
              <a:t> classes to the hyperplane. This points </a:t>
            </a:r>
            <a:r>
              <a:rPr lang="pl"/>
              <a:t>closest</a:t>
            </a:r>
            <a:r>
              <a:rPr lang="pl"/>
              <a:t> to the hyperplane are called support vectors. Only change in supports vectors changes the hyperplane. </a:t>
            </a:r>
            <a:r>
              <a:rPr lang="pl">
                <a:solidFill>
                  <a:schemeClr val="dk1"/>
                </a:solidFill>
              </a:rPr>
              <a:t>This means that SVM</a:t>
            </a:r>
            <a:r>
              <a:rPr lang="pl">
                <a:solidFill>
                  <a:schemeClr val="dk1"/>
                </a:solidFill>
              </a:rPr>
              <a:t> uses only subset of training points (support vectors) so it’s memory efficient. </a:t>
            </a:r>
            <a:r>
              <a:rPr lang="pl"/>
              <a:t> This means that inherently SVM performs only binary classification (which means choosing between two classes). It also implies that SVM is designed for data that is linearly </a:t>
            </a:r>
            <a:r>
              <a:rPr lang="pl"/>
              <a:t>separable</a:t>
            </a:r>
            <a:r>
              <a:rPr lang="pl"/>
              <a:t>. </a:t>
            </a:r>
            <a:endParaRPr b="1" i="1" sz="1000">
              <a:solidFill>
                <a:schemeClr val="dk1"/>
              </a:solidFill>
            </a:endParaRPr>
          </a:p>
          <a:p>
            <a:pPr indent="0" lvl="0" marL="0" rtl="0" algn="l">
              <a:lnSpc>
                <a:spcPct val="115000"/>
              </a:lnSpc>
              <a:spcBef>
                <a:spcPts val="1200"/>
              </a:spcBef>
              <a:spcAft>
                <a:spcPts val="0"/>
              </a:spcAft>
              <a:buNone/>
            </a:pPr>
            <a:r>
              <a:rPr lang="pl" sz="1000">
                <a:solidFill>
                  <a:schemeClr val="dk1"/>
                </a:solidFill>
              </a:rPr>
              <a:t>SVM assumes that you have inputs are numerical instead of categorical. So you can convert them using one of the most commonly used “</a:t>
            </a:r>
            <a:r>
              <a:rPr b="1" i="1" lang="pl" sz="1000" u="sng">
                <a:solidFill>
                  <a:schemeClr val="hlink"/>
                </a:solidFill>
                <a:hlinkClick r:id="rId2"/>
              </a:rPr>
              <a:t>one hot encodin</a:t>
            </a:r>
            <a:r>
              <a:rPr b="1" i="1" lang="pl" sz="1000">
                <a:solidFill>
                  <a:schemeClr val="dk1"/>
                </a:solidFill>
              </a:rPr>
              <a:t>g ,</a:t>
            </a:r>
            <a:r>
              <a:rPr b="1" i="1" lang="pl" sz="1000">
                <a:solidFill>
                  <a:schemeClr val="dk1"/>
                </a:solidFill>
                <a:uFill>
                  <a:noFill/>
                </a:uFill>
                <a:hlinkClick r:id="rId3">
                  <a:extLst>
                    <a:ext uri="{A12FA001-AC4F-418D-AE19-62706E023703}">
                      <ahyp:hlinkClr val="tx"/>
                    </a:ext>
                  </a:extLst>
                </a:hlinkClick>
              </a:rPr>
              <a:t> </a:t>
            </a:r>
            <a:r>
              <a:rPr b="1" i="1" lang="pl" sz="1000" u="sng">
                <a:solidFill>
                  <a:schemeClr val="hlink"/>
                </a:solidFill>
                <a:hlinkClick r:id="rId4"/>
              </a:rPr>
              <a:t>label-encoding</a:t>
            </a:r>
            <a:r>
              <a:rPr b="1" i="1" lang="pl" sz="1000">
                <a:solidFill>
                  <a:schemeClr val="dk1"/>
                </a:solidFill>
              </a:rPr>
              <a:t> etc</a:t>
            </a:r>
            <a:r>
              <a:rPr lang="pl" sz="1000">
                <a:solidFill>
                  <a:schemeClr val="dk1"/>
                </a:solidFill>
              </a:rPr>
              <a:t>”.</a:t>
            </a:r>
            <a:endParaRPr b="1" i="1" sz="10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pl" sz="1000">
                <a:solidFill>
                  <a:schemeClr val="dk1"/>
                </a:solidFill>
              </a:rPr>
              <a:t>Since SVM is able to classify only binary data so you would need to convert the multi-dimensional dataset into binary form using (</a:t>
            </a:r>
            <a:r>
              <a:rPr b="1" i="1" lang="pl" sz="1000" u="sng">
                <a:solidFill>
                  <a:schemeClr val="hlink"/>
                </a:solidFill>
                <a:hlinkClick r:id="rId5"/>
              </a:rPr>
              <a:t>one vs the rest</a:t>
            </a:r>
            <a:r>
              <a:rPr b="1" i="1" lang="pl" sz="1000">
                <a:solidFill>
                  <a:schemeClr val="dk1"/>
                </a:solidFill>
              </a:rPr>
              <a:t> method /</a:t>
            </a:r>
            <a:r>
              <a:rPr b="1" i="1" lang="pl" sz="1000">
                <a:solidFill>
                  <a:schemeClr val="dk1"/>
                </a:solidFill>
                <a:uFill>
                  <a:noFill/>
                </a:uFill>
                <a:hlinkClick r:id="rId6">
                  <a:extLst>
                    <a:ext uri="{A12FA001-AC4F-418D-AE19-62706E023703}">
                      <ahyp:hlinkClr val="tx"/>
                    </a:ext>
                  </a:extLst>
                </a:hlinkClick>
              </a:rPr>
              <a:t> </a:t>
            </a:r>
            <a:r>
              <a:rPr b="1" i="1" lang="pl" sz="1000" u="sng">
                <a:solidFill>
                  <a:schemeClr val="hlink"/>
                </a:solidFill>
                <a:hlinkClick r:id="rId7"/>
              </a:rPr>
              <a:t>one vs one method</a:t>
            </a:r>
            <a:r>
              <a:rPr lang="pl" sz="1000">
                <a:solidFill>
                  <a:schemeClr val="dk1"/>
                </a:solidFill>
              </a:rPr>
              <a:t>) conversion method.</a:t>
            </a:r>
            <a:endParaRPr sz="1000">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1068bdb5087_5_4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1068bdb5087_5_4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Hard margin SVM is used for linearly </a:t>
            </a:r>
            <a:r>
              <a:rPr lang="pl"/>
              <a:t>separable</a:t>
            </a:r>
            <a:r>
              <a:rPr lang="pl"/>
              <a:t> data. Nonetheless used dataset can contain noise which can make our dataset non-</a:t>
            </a:r>
            <a:r>
              <a:rPr lang="pl"/>
              <a:t>linearly</a:t>
            </a:r>
            <a:r>
              <a:rPr lang="pl"/>
              <a:t> </a:t>
            </a:r>
            <a:r>
              <a:rPr lang="pl"/>
              <a:t>separable. This problem can be solved using what’s called soft margin SVM. Such approach can also reduce overfitting or being to sensitive to outliers in cases of very small margins. In hard margin SVM we maximize the distance between two parallel hyperplanes  lying on support vector. In case of soft magrin we should minimize misclassification error. The loss of a misclassified point is called a slack variable and is added to the previous problem of hard margin SVM. This introduces new regularization parameter C which controls how much misclassification should be allowed.</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1068bdb5087_5_4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1068bdb5087_5_4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SVM can also be used for data that is </a:t>
            </a:r>
            <a:r>
              <a:rPr lang="pl"/>
              <a:t>separable</a:t>
            </a:r>
            <a:r>
              <a:rPr lang="pl"/>
              <a:t> but not linearly separable. The idea is to </a:t>
            </a:r>
            <a:r>
              <a:rPr lang="pl"/>
              <a:t>separate</a:t>
            </a:r>
            <a:r>
              <a:rPr lang="pl"/>
              <a:t> data points by projecting them into a higher dimension by adding relevant features. Kernel tricks are a way to</a:t>
            </a:r>
            <a:r>
              <a:rPr lang="pl"/>
              <a:t> lower computational complexity by substituting computations in higher dimension. Given two data points a Kernel function tells you what is the similarity between them in the newly transformed feature space. This similarity function is mathematically a kind of a complex dot product.</a:t>
            </a:r>
            <a:endParaRPr/>
          </a:p>
          <a:p>
            <a:pPr indent="0" lvl="0" marL="0" rtl="0" algn="l">
              <a:spcBef>
                <a:spcPts val="0"/>
              </a:spcBef>
              <a:spcAft>
                <a:spcPts val="0"/>
              </a:spcAft>
              <a:buNone/>
            </a:pPr>
            <a:r>
              <a:t/>
            </a:r>
            <a:endParaRPr/>
          </a:p>
          <a:p>
            <a:pPr indent="0" lvl="0" marL="0" rtl="0" algn="l">
              <a:lnSpc>
                <a:spcPct val="115000"/>
              </a:lnSpc>
              <a:spcBef>
                <a:spcPts val="1200"/>
              </a:spcBef>
              <a:spcAft>
                <a:spcPts val="0"/>
              </a:spcAft>
              <a:buClr>
                <a:schemeClr val="dk1"/>
              </a:buClr>
              <a:buSzPts val="1100"/>
              <a:buFont typeface="Arial"/>
              <a:buNone/>
            </a:pPr>
            <a:r>
              <a:rPr b="1" lang="pl">
                <a:solidFill>
                  <a:schemeClr val="dk1"/>
                </a:solidFill>
              </a:rPr>
              <a:t>Pros of Kernelized SVM:</a:t>
            </a:r>
            <a:endParaRPr b="1">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lang="pl">
                <a:solidFill>
                  <a:schemeClr val="dk1"/>
                </a:solidFill>
              </a:rPr>
              <a:t>They perform very well on a range of datasets.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pl">
                <a:solidFill>
                  <a:schemeClr val="dk1"/>
                </a:solidFill>
              </a:rPr>
              <a:t>They are versatile : different kernel functions can be specified, or custom kernels can also be defined for specific datatypes.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pl">
                <a:solidFill>
                  <a:schemeClr val="dk1"/>
                </a:solidFill>
              </a:rPr>
              <a:t>They work well for both high and low dimensional data.</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pl">
                <a:solidFill>
                  <a:schemeClr val="dk1"/>
                </a:solidFill>
              </a:rPr>
              <a:t>Cons of Kernelized SVM:</a:t>
            </a:r>
            <a:endParaRPr b="1">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lang="pl">
                <a:solidFill>
                  <a:schemeClr val="dk1"/>
                </a:solidFill>
              </a:rPr>
              <a:t>Efficiency (running time and memory usage) decreases as size of training set increases.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pl">
                <a:solidFill>
                  <a:schemeClr val="dk1"/>
                </a:solidFill>
              </a:rPr>
              <a:t>Needs careful normalization of input data and parameter tuning.</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pl">
                <a:solidFill>
                  <a:schemeClr val="dk1"/>
                </a:solidFill>
              </a:rPr>
              <a:t>Does not provide direct probability estimator.</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pl">
                <a:solidFill>
                  <a:schemeClr val="dk1"/>
                </a:solidFill>
              </a:rPr>
              <a:t>Difficult to interpret why a prediction was made.</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1068bdb5087_8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1068bdb5087_8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cfd1e28e1d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cfd1e28e1d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1069a1de0c3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1069a1de0c3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1068bdb5087_7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1068bdb5087_7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1" name="Google Shape;11;p2"/>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2" name="Google Shape;12;p2"/>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cxnSp>
        <p:nvCxnSpPr>
          <p:cNvPr id="15" name="Google Shape;15;p3"/>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6" name="Google Shape;16;p3"/>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7975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7" name="Google Shape;37;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lt2"/>
            </a:solidFill>
            <a:prstDash val="solid"/>
            <a:round/>
            <a:headEnd len="sm" w="sm" type="none"/>
            <a:tailEnd len="sm" w="sm" type="none"/>
          </a:ln>
        </p:spPr>
      </p:cxnSp>
      <p:sp>
        <p:nvSpPr>
          <p:cNvPr id="41" name="Google Shape;41;p9"/>
          <p:cNvSpPr txBox="1"/>
          <p:nvPr>
            <p:ph type="title"/>
          </p:nvPr>
        </p:nvSpPr>
        <p:spPr>
          <a:xfrm>
            <a:off x="265500" y="1205825"/>
            <a:ext cx="4045200" cy="1509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68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7" name="Google Shape;47;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1"/>
          <p:cNvSpPr txBox="1"/>
          <p:nvPr>
            <p:ph hasCustomPrompt="1" type="title"/>
          </p:nvPr>
        </p:nvSpPr>
        <p:spPr>
          <a:xfrm>
            <a:off x="311700" y="991475"/>
            <a:ext cx="8520600" cy="1917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071300"/>
            <a:ext cx="8520600" cy="901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pl"/>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0.png"/><Relationship Id="rId4" Type="http://schemas.openxmlformats.org/officeDocument/2006/relationships/image" Target="../media/image15.png"/><Relationship Id="rId5" Type="http://schemas.openxmlformats.org/officeDocument/2006/relationships/hyperlink" Target="https://home.agh.edu.pl/~vlsi/AI/intro/" TargetMode="External"/><Relationship Id="rId6" Type="http://schemas.openxmlformats.org/officeDocument/2006/relationships/hyperlink" Target="https://theconversation.com/what-is-a-neural-network-a-computer-scientist-explains-151897" TargetMode="External"/><Relationship Id="rId7" Type="http://schemas.openxmlformats.org/officeDocument/2006/relationships/image" Target="../media/image7.png"/><Relationship Id="rId8" Type="http://schemas.openxmlformats.org/officeDocument/2006/relationships/hyperlink" Target="http://zsi.ii.us.edu.pl/~nowak/si/SI_w4.pdf"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3.png"/><Relationship Id="rId5" Type="http://schemas.openxmlformats.org/officeDocument/2006/relationships/image" Target="../media/image11.png"/><Relationship Id="rId6" Type="http://schemas.openxmlformats.org/officeDocument/2006/relationships/hyperlink" Target="https://towardsdatascience.com/what-is-a-perceptron-210a50190c3b" TargetMode="External"/><Relationship Id="rId7" Type="http://schemas.openxmlformats.org/officeDocument/2006/relationships/hyperlink" Target="https://towardsdatascience.com/a-beginner-friendly-explanation-of-how-neural-networks-work-55064db60df4"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8.png"/><Relationship Id="rId4" Type="http://schemas.openxmlformats.org/officeDocument/2006/relationships/hyperlink" Target="https://towardsdatascience.com/the-mostly-complete-chart-of-neural-networks-explained-3fb6f2367464"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pl"/>
              <a:t>SMAA - StudEmo dataset</a:t>
            </a:r>
            <a:endParaRPr/>
          </a:p>
        </p:txBody>
      </p:sp>
      <p:sp>
        <p:nvSpPr>
          <p:cNvPr id="60" name="Google Shape;60;p13"/>
          <p:cNvSpPr txBox="1"/>
          <p:nvPr>
            <p:ph idx="1" type="subTitle"/>
          </p:nvPr>
        </p:nvSpPr>
        <p:spPr>
          <a:xfrm>
            <a:off x="510450" y="3182324"/>
            <a:ext cx="8123100" cy="1131300"/>
          </a:xfrm>
          <a:prstGeom prst="rect">
            <a:avLst/>
          </a:prstGeom>
        </p:spPr>
        <p:txBody>
          <a:bodyPr anchorCtr="0" anchor="t" bIns="91425" lIns="91425" spcFirstLastPara="1" rIns="91425" wrap="square" tIns="91425">
            <a:normAutofit fontScale="70000" lnSpcReduction="10000"/>
          </a:bodyPr>
          <a:lstStyle/>
          <a:p>
            <a:pPr indent="0" lvl="0" marL="0" rtl="0" algn="l">
              <a:spcBef>
                <a:spcPts val="0"/>
              </a:spcBef>
              <a:spcAft>
                <a:spcPts val="0"/>
              </a:spcAft>
              <a:buNone/>
            </a:pPr>
            <a:r>
              <a:rPr lang="pl"/>
              <a:t>Methods for prediction of emotion - presentation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pl"/>
              <a:t>Group 2</a:t>
            </a:r>
            <a:endParaRPr/>
          </a:p>
          <a:p>
            <a:pPr indent="0" lvl="0" marL="0" rtl="0" algn="l">
              <a:spcBef>
                <a:spcPts val="0"/>
              </a:spcBef>
              <a:spcAft>
                <a:spcPts val="0"/>
              </a:spcAft>
              <a:buNone/>
            </a:pPr>
            <a:r>
              <a:rPr lang="pl"/>
              <a:t>Guściora Mateusz, Koptyra Bartłomiej, Kulas Michalina, Smolarczyk Sebastian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AGENDA</a:t>
            </a:r>
            <a:endParaRPr/>
          </a:p>
        </p:txBody>
      </p:sp>
      <p:sp>
        <p:nvSpPr>
          <p:cNvPr id="66" name="Google Shape;66;p14"/>
          <p:cNvSpPr txBox="1"/>
          <p:nvPr>
            <p:ph idx="1" type="body"/>
          </p:nvPr>
        </p:nvSpPr>
        <p:spPr>
          <a:xfrm>
            <a:off x="311700" y="1163075"/>
            <a:ext cx="8520600" cy="34164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AutoNum type="arabicPeriod"/>
            </a:pPr>
            <a:r>
              <a:rPr lang="pl" sz="2000"/>
              <a:t>What is classification?</a:t>
            </a:r>
            <a:endParaRPr sz="2000"/>
          </a:p>
          <a:p>
            <a:pPr indent="-355600" lvl="0" marL="457200" rtl="0" algn="l">
              <a:spcBef>
                <a:spcPts val="0"/>
              </a:spcBef>
              <a:spcAft>
                <a:spcPts val="0"/>
              </a:spcAft>
              <a:buSzPts val="2000"/>
              <a:buAutoNum type="arabicPeriod"/>
            </a:pPr>
            <a:r>
              <a:rPr lang="pl" sz="2000"/>
              <a:t>Dataset - StudEmo</a:t>
            </a:r>
            <a:endParaRPr sz="2000"/>
          </a:p>
          <a:p>
            <a:pPr indent="-355600" lvl="0" marL="457200" rtl="0" algn="l">
              <a:spcBef>
                <a:spcPts val="0"/>
              </a:spcBef>
              <a:spcAft>
                <a:spcPts val="0"/>
              </a:spcAft>
              <a:buSzPts val="2000"/>
              <a:buAutoNum type="arabicPeriod"/>
            </a:pPr>
            <a:r>
              <a:rPr lang="pl" sz="2000"/>
              <a:t>Chosen methods:</a:t>
            </a:r>
            <a:endParaRPr sz="2000"/>
          </a:p>
          <a:p>
            <a:pPr indent="-355600" lvl="1" marL="914400" rtl="0" algn="l">
              <a:spcBef>
                <a:spcPts val="0"/>
              </a:spcBef>
              <a:spcAft>
                <a:spcPts val="0"/>
              </a:spcAft>
              <a:buSzPts val="2000"/>
              <a:buAutoNum type="alphaLcPeriod"/>
            </a:pPr>
            <a:r>
              <a:rPr lang="pl" sz="2000"/>
              <a:t>Decision tree</a:t>
            </a:r>
            <a:endParaRPr sz="2000"/>
          </a:p>
          <a:p>
            <a:pPr indent="-355600" lvl="1" marL="914400" rtl="0" algn="l">
              <a:spcBef>
                <a:spcPts val="0"/>
              </a:spcBef>
              <a:spcAft>
                <a:spcPts val="0"/>
              </a:spcAft>
              <a:buSzPts val="2000"/>
              <a:buAutoNum type="alphaLcPeriod"/>
            </a:pPr>
            <a:r>
              <a:rPr lang="pl" sz="2000"/>
              <a:t>Support Vector Machine (SVM)</a:t>
            </a:r>
            <a:endParaRPr sz="2000"/>
          </a:p>
          <a:p>
            <a:pPr indent="-355600" lvl="1" marL="914400" rtl="0" algn="l">
              <a:spcBef>
                <a:spcPts val="0"/>
              </a:spcBef>
              <a:spcAft>
                <a:spcPts val="0"/>
              </a:spcAft>
              <a:buSzPts val="2000"/>
              <a:buAutoNum type="alphaLcPeriod"/>
            </a:pPr>
            <a:r>
              <a:rPr lang="pl" sz="2000"/>
              <a:t>Neural Network</a:t>
            </a:r>
            <a:endParaRPr sz="2000"/>
          </a:p>
        </p:txBody>
      </p:sp>
      <p:sp>
        <p:nvSpPr>
          <p:cNvPr id="67" name="Google Shape;67;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pic>
        <p:nvPicPr>
          <p:cNvPr id="68" name="Google Shape;68;p14"/>
          <p:cNvPicPr preferRelativeResize="0"/>
          <p:nvPr/>
        </p:nvPicPr>
        <p:blipFill>
          <a:blip r:embed="rId3">
            <a:alphaModFix/>
          </a:blip>
          <a:stretch>
            <a:fillRect/>
          </a:stretch>
        </p:blipFill>
        <p:spPr>
          <a:xfrm>
            <a:off x="5373374" y="2363100"/>
            <a:ext cx="3144525" cy="2097375"/>
          </a:xfrm>
          <a:prstGeom prst="rect">
            <a:avLst/>
          </a:prstGeom>
          <a:noFill/>
          <a:ln>
            <a:noFill/>
          </a:ln>
        </p:spPr>
      </p:pic>
      <p:sp>
        <p:nvSpPr>
          <p:cNvPr id="69" name="Google Shape;69;p14"/>
          <p:cNvSpPr txBox="1"/>
          <p:nvPr/>
        </p:nvSpPr>
        <p:spPr>
          <a:xfrm>
            <a:off x="5327850" y="4460475"/>
            <a:ext cx="3144600" cy="246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l" sz="400"/>
              <a:t>Source: https://machinelearningmastery.com/classification-accuracy-is-not-enough-more-performance-measures-you-can-use/</a:t>
            </a:r>
            <a:endParaRPr sz="400"/>
          </a:p>
        </p:txBody>
      </p:sp>
      <p:pic>
        <p:nvPicPr>
          <p:cNvPr id="70" name="Google Shape;70;p14"/>
          <p:cNvPicPr preferRelativeResize="0"/>
          <p:nvPr/>
        </p:nvPicPr>
        <p:blipFill>
          <a:blip r:embed="rId4">
            <a:alphaModFix/>
          </a:blip>
          <a:stretch>
            <a:fillRect/>
          </a:stretch>
        </p:blipFill>
        <p:spPr>
          <a:xfrm>
            <a:off x="6048375" y="200025"/>
            <a:ext cx="1905000" cy="1905000"/>
          </a:xfrm>
          <a:prstGeom prst="rect">
            <a:avLst/>
          </a:prstGeom>
          <a:noFill/>
          <a:ln>
            <a:noFill/>
          </a:ln>
        </p:spPr>
      </p:pic>
      <p:sp>
        <p:nvSpPr>
          <p:cNvPr id="71" name="Google Shape;71;p14"/>
          <p:cNvSpPr txBox="1"/>
          <p:nvPr/>
        </p:nvSpPr>
        <p:spPr>
          <a:xfrm>
            <a:off x="6407275" y="1747700"/>
            <a:ext cx="18438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l" sz="400">
                <a:latin typeface="Proxima Nova"/>
                <a:ea typeface="Proxima Nova"/>
                <a:cs typeface="Proxima Nova"/>
                <a:sym typeface="Proxima Nova"/>
              </a:rPr>
              <a:t>Source: </a:t>
            </a:r>
            <a:endParaRPr sz="400">
              <a:latin typeface="Proxima Nova"/>
              <a:ea typeface="Proxima Nova"/>
              <a:cs typeface="Proxima Nova"/>
              <a:sym typeface="Proxima Nova"/>
            </a:endParaRPr>
          </a:p>
          <a:p>
            <a:pPr indent="0" lvl="0" marL="0" rtl="0" algn="l">
              <a:spcBef>
                <a:spcPts val="0"/>
              </a:spcBef>
              <a:spcAft>
                <a:spcPts val="0"/>
              </a:spcAft>
              <a:buNone/>
            </a:pPr>
            <a:r>
              <a:rPr lang="pl" sz="400">
                <a:latin typeface="Proxima Nova"/>
                <a:ea typeface="Proxima Nova"/>
                <a:cs typeface="Proxima Nova"/>
                <a:sym typeface="Proxima Nova"/>
              </a:rPr>
              <a:t>https://thenounproject.com/icon/agenda-700063/</a:t>
            </a:r>
            <a:endParaRPr sz="400">
              <a:latin typeface="Proxima Nova"/>
              <a:ea typeface="Proxima Nova"/>
              <a:cs typeface="Proxima Nova"/>
              <a:sym typeface="Proxima Nov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WHAT IS CLASSIFICATION?</a:t>
            </a:r>
            <a:endParaRPr/>
          </a:p>
        </p:txBody>
      </p:sp>
      <p:sp>
        <p:nvSpPr>
          <p:cNvPr id="77" name="Google Shape;77;p15"/>
          <p:cNvSpPr txBox="1"/>
          <p:nvPr>
            <p:ph idx="1" type="body"/>
          </p:nvPr>
        </p:nvSpPr>
        <p:spPr>
          <a:xfrm>
            <a:off x="311700" y="1017725"/>
            <a:ext cx="8520600" cy="34749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pl" sz="1100">
                <a:solidFill>
                  <a:srgbClr val="000000"/>
                </a:solidFill>
                <a:latin typeface="Calibri"/>
                <a:ea typeface="Calibri"/>
                <a:cs typeface="Calibri"/>
                <a:sym typeface="Calibri"/>
              </a:rPr>
              <a:t>Classification is a data science task of predicting the value of a categorical variable (target or class) by building a model based on one or more numerical and/or categorical variables (predictors or attributes).</a:t>
            </a:r>
            <a:r>
              <a:rPr b="1" baseline="30000" lang="pl" sz="1300">
                <a:solidFill>
                  <a:srgbClr val="000000"/>
                </a:solidFill>
                <a:latin typeface="Arial"/>
                <a:ea typeface="Arial"/>
                <a:cs typeface="Arial"/>
                <a:sym typeface="Arial"/>
              </a:rPr>
              <a:t>[1]</a:t>
            </a:r>
            <a:r>
              <a:rPr b="1" lang="pl" sz="1100">
                <a:solidFill>
                  <a:srgbClr val="202122"/>
                </a:solidFill>
                <a:highlight>
                  <a:srgbClr val="FFFFFF"/>
                </a:highlight>
                <a:latin typeface="Calibri"/>
                <a:ea typeface="Calibri"/>
                <a:cs typeface="Calibri"/>
                <a:sym typeface="Calibri"/>
              </a:rPr>
              <a:t> </a:t>
            </a:r>
            <a:r>
              <a:rPr lang="pl" sz="1100">
                <a:solidFill>
                  <a:srgbClr val="202122"/>
                </a:solidFill>
                <a:highlight>
                  <a:srgbClr val="FFFFFF"/>
                </a:highlight>
                <a:latin typeface="Calibri"/>
                <a:ea typeface="Calibri"/>
                <a:cs typeface="Calibri"/>
                <a:sym typeface="Calibri"/>
              </a:rPr>
              <a:t>In statistics, classification is the problem of identifying which of a set of categories (sub-populations) an observation, (or observations) belongs to.</a:t>
            </a:r>
            <a:r>
              <a:rPr b="1" baseline="30000" lang="pl" sz="1300">
                <a:solidFill>
                  <a:srgbClr val="000000"/>
                </a:solidFill>
                <a:latin typeface="Arial"/>
                <a:ea typeface="Arial"/>
                <a:cs typeface="Arial"/>
                <a:sym typeface="Arial"/>
              </a:rPr>
              <a:t>[2]</a:t>
            </a:r>
            <a:endParaRPr b="1" sz="800">
              <a:solidFill>
                <a:srgbClr val="202122"/>
              </a:solidFill>
              <a:highlight>
                <a:srgbClr val="FFFFFF"/>
              </a:highlight>
              <a:latin typeface="Calibri"/>
              <a:ea typeface="Calibri"/>
              <a:cs typeface="Calibri"/>
              <a:sym typeface="Calibri"/>
            </a:endParaRPr>
          </a:p>
          <a:p>
            <a:pPr indent="0" lvl="0" marL="0" rtl="0" algn="l">
              <a:spcBef>
                <a:spcPts val="1200"/>
              </a:spcBef>
              <a:spcAft>
                <a:spcPts val="0"/>
              </a:spcAft>
              <a:buNone/>
            </a:pPr>
            <a:r>
              <a:t/>
            </a:r>
            <a:endParaRPr sz="1050">
              <a:solidFill>
                <a:srgbClr val="202122"/>
              </a:solidFill>
              <a:highlight>
                <a:srgbClr val="FFFFFF"/>
              </a:highlight>
              <a:latin typeface="Arial"/>
              <a:ea typeface="Arial"/>
              <a:cs typeface="Arial"/>
              <a:sym typeface="Arial"/>
            </a:endParaRPr>
          </a:p>
          <a:p>
            <a:pPr indent="0" lvl="0" marL="0" rtl="0" algn="l">
              <a:spcBef>
                <a:spcPts val="1200"/>
              </a:spcBef>
              <a:spcAft>
                <a:spcPts val="0"/>
              </a:spcAft>
              <a:buNone/>
            </a:pPr>
            <a:r>
              <a:t/>
            </a:r>
            <a:endParaRPr sz="1050">
              <a:solidFill>
                <a:srgbClr val="202122"/>
              </a:solidFill>
              <a:highlight>
                <a:srgbClr val="FFFFFF"/>
              </a:highlight>
              <a:latin typeface="Arial"/>
              <a:ea typeface="Arial"/>
              <a:cs typeface="Arial"/>
              <a:sym typeface="Arial"/>
            </a:endParaRPr>
          </a:p>
          <a:p>
            <a:pPr indent="0" lvl="0" marL="0" rtl="0" algn="l">
              <a:spcBef>
                <a:spcPts val="1200"/>
              </a:spcBef>
              <a:spcAft>
                <a:spcPts val="0"/>
              </a:spcAft>
              <a:buNone/>
            </a:pPr>
            <a:r>
              <a:t/>
            </a:r>
            <a:endParaRPr sz="1050">
              <a:solidFill>
                <a:srgbClr val="202122"/>
              </a:solidFill>
              <a:highlight>
                <a:srgbClr val="FFFFFF"/>
              </a:highlight>
              <a:latin typeface="Arial"/>
              <a:ea typeface="Arial"/>
              <a:cs typeface="Arial"/>
              <a:sym typeface="Arial"/>
            </a:endParaRPr>
          </a:p>
          <a:p>
            <a:pPr indent="0" lvl="0" marL="0" rtl="0" algn="l">
              <a:spcBef>
                <a:spcPts val="1200"/>
              </a:spcBef>
              <a:spcAft>
                <a:spcPts val="0"/>
              </a:spcAft>
              <a:buNone/>
            </a:pPr>
            <a:r>
              <a:t/>
            </a:r>
            <a:endParaRPr sz="1050">
              <a:solidFill>
                <a:srgbClr val="202122"/>
              </a:solidFill>
              <a:highlight>
                <a:srgbClr val="FFFFFF"/>
              </a:highlight>
              <a:latin typeface="Arial"/>
              <a:ea typeface="Arial"/>
              <a:cs typeface="Arial"/>
              <a:sym typeface="Arial"/>
            </a:endParaRPr>
          </a:p>
          <a:p>
            <a:pPr indent="0" lvl="0" marL="0" rtl="0" algn="l">
              <a:spcBef>
                <a:spcPts val="1200"/>
              </a:spcBef>
              <a:spcAft>
                <a:spcPts val="1200"/>
              </a:spcAft>
              <a:buNone/>
            </a:pPr>
            <a:r>
              <a:t/>
            </a:r>
            <a:endParaRPr sz="1050">
              <a:solidFill>
                <a:srgbClr val="202122"/>
              </a:solidFill>
              <a:highlight>
                <a:srgbClr val="FFFFFF"/>
              </a:highlight>
              <a:latin typeface="Arial"/>
              <a:ea typeface="Arial"/>
              <a:cs typeface="Arial"/>
              <a:sym typeface="Arial"/>
            </a:endParaRPr>
          </a:p>
        </p:txBody>
      </p:sp>
      <p:sp>
        <p:nvSpPr>
          <p:cNvPr id="78" name="Google Shape;78;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grpSp>
        <p:nvGrpSpPr>
          <p:cNvPr id="79" name="Google Shape;79;p15"/>
          <p:cNvGrpSpPr/>
          <p:nvPr/>
        </p:nvGrpSpPr>
        <p:grpSpPr>
          <a:xfrm>
            <a:off x="0" y="1832425"/>
            <a:ext cx="9144000" cy="2830725"/>
            <a:chOff x="-1676275" y="2219750"/>
            <a:chExt cx="9144000" cy="2830725"/>
          </a:xfrm>
        </p:grpSpPr>
        <p:pic>
          <p:nvPicPr>
            <p:cNvPr descr="https://developers.google.com/machine-learning/guides/text-classification/images/TextClassificationExample.png?hl=pl-pl" id="80" name="Google Shape;80;p15"/>
            <p:cNvPicPr preferRelativeResize="0"/>
            <p:nvPr/>
          </p:nvPicPr>
          <p:blipFill rotWithShape="1">
            <a:blip r:embed="rId3">
              <a:alphaModFix/>
            </a:blip>
            <a:srcRect b="6985" l="0" r="0" t="6553"/>
            <a:stretch/>
          </p:blipFill>
          <p:spPr>
            <a:xfrm>
              <a:off x="82321" y="2219750"/>
              <a:ext cx="5626816" cy="2430525"/>
            </a:xfrm>
            <a:prstGeom prst="rect">
              <a:avLst/>
            </a:prstGeom>
            <a:noFill/>
            <a:ln>
              <a:noFill/>
            </a:ln>
          </p:spPr>
        </p:pic>
        <p:sp>
          <p:nvSpPr>
            <p:cNvPr id="81" name="Google Shape;81;p15"/>
            <p:cNvSpPr txBox="1"/>
            <p:nvPr/>
          </p:nvSpPr>
          <p:spPr>
            <a:xfrm>
              <a:off x="-1676275" y="4650275"/>
              <a:ext cx="9144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l" sz="700"/>
                <a:t>source:</a:t>
              </a:r>
              <a:r>
                <a:rPr lang="pl" sz="800"/>
                <a:t> </a:t>
              </a:r>
              <a:endParaRPr sz="800"/>
            </a:p>
            <a:p>
              <a:pPr indent="0" lvl="0" marL="0" rtl="0" algn="ctr">
                <a:spcBef>
                  <a:spcPts val="0"/>
                </a:spcBef>
                <a:spcAft>
                  <a:spcPts val="0"/>
                </a:spcAft>
                <a:buNone/>
              </a:pPr>
              <a:r>
                <a:rPr lang="pl" sz="600"/>
                <a:t>https://developers.google.com/machine-learning/guides/text-classification/images/TextClassificationExample.png</a:t>
              </a:r>
              <a:endParaRPr sz="600"/>
            </a:p>
          </p:txBody>
        </p:sp>
      </p:grpSp>
      <p:sp>
        <p:nvSpPr>
          <p:cNvPr id="82" name="Google Shape;82;p15"/>
          <p:cNvSpPr txBox="1"/>
          <p:nvPr/>
        </p:nvSpPr>
        <p:spPr>
          <a:xfrm>
            <a:off x="0" y="4586950"/>
            <a:ext cx="9144000" cy="482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pl" sz="900">
                <a:solidFill>
                  <a:schemeClr val="dk1"/>
                </a:solidFill>
                <a:latin typeface="Proxima Nova"/>
                <a:ea typeface="Proxima Nova"/>
                <a:cs typeface="Proxima Nova"/>
                <a:sym typeface="Proxima Nova"/>
              </a:rPr>
              <a:t>[1] Classification definition, Dr. Saed Sayad, 2021, source: saedsayad.com/classification.htm</a:t>
            </a:r>
            <a:br>
              <a:rPr lang="pl" sz="900">
                <a:solidFill>
                  <a:schemeClr val="dk1"/>
                </a:solidFill>
                <a:latin typeface="Proxima Nova"/>
                <a:ea typeface="Proxima Nova"/>
                <a:cs typeface="Proxima Nova"/>
                <a:sym typeface="Proxima Nova"/>
              </a:rPr>
            </a:br>
            <a:r>
              <a:rPr lang="pl" sz="900">
                <a:solidFill>
                  <a:schemeClr val="dk1"/>
                </a:solidFill>
                <a:latin typeface="Proxima Nova"/>
                <a:ea typeface="Proxima Nova"/>
                <a:cs typeface="Proxima Nova"/>
                <a:sym typeface="Proxima Nova"/>
              </a:rPr>
              <a:t>[2] Statistical classification, source: en.wikipedia.org/wiki/Statistical_classification</a:t>
            </a:r>
            <a:endParaRPr sz="900">
              <a:solidFill>
                <a:schemeClr val="dk1"/>
              </a:solidFill>
              <a:latin typeface="Proxima Nova"/>
              <a:ea typeface="Proxima Nova"/>
              <a:cs typeface="Proxima Nova"/>
              <a:sym typeface="Proxima Nov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DATASET</a:t>
            </a:r>
            <a:endParaRPr/>
          </a:p>
        </p:txBody>
      </p:sp>
      <p:sp>
        <p:nvSpPr>
          <p:cNvPr id="88" name="Google Shape;88;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grpSp>
        <p:nvGrpSpPr>
          <p:cNvPr id="89" name="Google Shape;89;p16"/>
          <p:cNvGrpSpPr/>
          <p:nvPr/>
        </p:nvGrpSpPr>
        <p:grpSpPr>
          <a:xfrm>
            <a:off x="715100" y="1243675"/>
            <a:ext cx="3000000" cy="3702350"/>
            <a:chOff x="969825" y="1247675"/>
            <a:chExt cx="3000000" cy="3702350"/>
          </a:xfrm>
        </p:grpSpPr>
        <p:sp>
          <p:nvSpPr>
            <p:cNvPr id="90" name="Google Shape;90;p16"/>
            <p:cNvSpPr txBox="1"/>
            <p:nvPr/>
          </p:nvSpPr>
          <p:spPr>
            <a:xfrm>
              <a:off x="969825" y="454982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l" sz="700"/>
                <a:t>source:</a:t>
              </a:r>
              <a:r>
                <a:rPr lang="pl" sz="800"/>
                <a:t> </a:t>
              </a:r>
              <a:br>
                <a:rPr lang="pl" sz="600"/>
              </a:br>
              <a:r>
                <a:rPr lang="pl" sz="600"/>
                <a:t>https://styles.redditmedia.com/t5_2r97t/styles/communityIcon_ri05w19k4zh01.png</a:t>
              </a:r>
              <a:endParaRPr sz="600"/>
            </a:p>
          </p:txBody>
        </p:sp>
        <p:pic>
          <p:nvPicPr>
            <p:cNvPr id="91" name="Google Shape;91;p16"/>
            <p:cNvPicPr preferRelativeResize="0"/>
            <p:nvPr/>
          </p:nvPicPr>
          <p:blipFill>
            <a:blip r:embed="rId3">
              <a:alphaModFix/>
            </a:blip>
            <a:stretch>
              <a:fillRect/>
            </a:stretch>
          </p:blipFill>
          <p:spPr>
            <a:xfrm>
              <a:off x="969825" y="1247675"/>
              <a:ext cx="3000000" cy="3000000"/>
            </a:xfrm>
            <a:prstGeom prst="rect">
              <a:avLst/>
            </a:prstGeom>
            <a:noFill/>
            <a:ln>
              <a:noFill/>
            </a:ln>
          </p:spPr>
        </p:pic>
      </p:grpSp>
      <p:grpSp>
        <p:nvGrpSpPr>
          <p:cNvPr id="92" name="Google Shape;92;p16"/>
          <p:cNvGrpSpPr/>
          <p:nvPr/>
        </p:nvGrpSpPr>
        <p:grpSpPr>
          <a:xfrm>
            <a:off x="5371859" y="575551"/>
            <a:ext cx="3028716" cy="4405062"/>
            <a:chOff x="4417059" y="780963"/>
            <a:chExt cx="3028716" cy="4405062"/>
          </a:xfrm>
        </p:grpSpPr>
        <p:pic>
          <p:nvPicPr>
            <p:cNvPr id="93" name="Google Shape;93;p16"/>
            <p:cNvPicPr preferRelativeResize="0"/>
            <p:nvPr/>
          </p:nvPicPr>
          <p:blipFill>
            <a:blip r:embed="rId4">
              <a:alphaModFix/>
            </a:blip>
            <a:stretch>
              <a:fillRect/>
            </a:stretch>
          </p:blipFill>
          <p:spPr>
            <a:xfrm>
              <a:off x="4417059" y="780963"/>
              <a:ext cx="2833642" cy="3702350"/>
            </a:xfrm>
            <a:prstGeom prst="rect">
              <a:avLst/>
            </a:prstGeom>
            <a:noFill/>
            <a:ln>
              <a:noFill/>
            </a:ln>
          </p:spPr>
        </p:pic>
        <p:sp>
          <p:nvSpPr>
            <p:cNvPr id="94" name="Google Shape;94;p16"/>
            <p:cNvSpPr txBox="1"/>
            <p:nvPr/>
          </p:nvSpPr>
          <p:spPr>
            <a:xfrm>
              <a:off x="4445775" y="478582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l" sz="700"/>
                <a:t>source:</a:t>
              </a:r>
              <a:r>
                <a:rPr lang="pl" sz="800"/>
                <a:t> </a:t>
              </a:r>
              <a:br>
                <a:rPr lang="pl" sz="600"/>
              </a:br>
              <a:r>
                <a:rPr lang="pl" sz="600"/>
                <a:t>https://miro.medium.com/max/661/1*3K9GIOVLNu0cRvQap_KaRg.png</a:t>
              </a:r>
              <a:endParaRPr sz="600"/>
            </a:p>
          </p:txBody>
        </p:sp>
        <p:pic>
          <p:nvPicPr>
            <p:cNvPr id="95" name="Google Shape;95;p16"/>
            <p:cNvPicPr preferRelativeResize="0"/>
            <p:nvPr/>
          </p:nvPicPr>
          <p:blipFill rotWithShape="1">
            <a:blip r:embed="rId5">
              <a:alphaModFix/>
            </a:blip>
            <a:srcRect b="21011" l="18994" r="21738" t="15853"/>
            <a:stretch/>
          </p:blipFill>
          <p:spPr>
            <a:xfrm>
              <a:off x="5123063" y="1977126"/>
              <a:ext cx="1616700" cy="1722275"/>
            </a:xfrm>
            <a:prstGeom prst="rect">
              <a:avLst/>
            </a:prstGeom>
            <a:noFill/>
            <a:ln>
              <a:noFill/>
            </a:ln>
          </p:spPr>
        </p:pic>
      </p:grpSp>
      <p:sp>
        <p:nvSpPr>
          <p:cNvPr id="96" name="Google Shape;96;p16"/>
          <p:cNvSpPr/>
          <p:nvPr/>
        </p:nvSpPr>
        <p:spPr>
          <a:xfrm>
            <a:off x="3840900" y="2370388"/>
            <a:ext cx="1581000" cy="815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DECISION TREE</a:t>
            </a:r>
            <a:r>
              <a:rPr lang="pl"/>
              <a:t> - CLASSIFICATION</a:t>
            </a:r>
            <a:endParaRPr/>
          </a:p>
        </p:txBody>
      </p:sp>
      <p:sp>
        <p:nvSpPr>
          <p:cNvPr id="102" name="Google Shape;102;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pic>
        <p:nvPicPr>
          <p:cNvPr id="103" name="Google Shape;103;p17"/>
          <p:cNvPicPr preferRelativeResize="0"/>
          <p:nvPr/>
        </p:nvPicPr>
        <p:blipFill>
          <a:blip r:embed="rId3">
            <a:alphaModFix/>
          </a:blip>
          <a:stretch>
            <a:fillRect/>
          </a:stretch>
        </p:blipFill>
        <p:spPr>
          <a:xfrm>
            <a:off x="6099475" y="1439800"/>
            <a:ext cx="2732825" cy="3129075"/>
          </a:xfrm>
          <a:prstGeom prst="rect">
            <a:avLst/>
          </a:prstGeom>
          <a:noFill/>
          <a:ln>
            <a:noFill/>
          </a:ln>
        </p:spPr>
      </p:pic>
      <p:sp>
        <p:nvSpPr>
          <p:cNvPr id="104" name="Google Shape;104;p17"/>
          <p:cNvSpPr txBox="1"/>
          <p:nvPr/>
        </p:nvSpPr>
        <p:spPr>
          <a:xfrm>
            <a:off x="6152400" y="4568875"/>
            <a:ext cx="26799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l" sz="700"/>
              <a:t>Source: https://code.4noobz.net/decision-tree-simple-example/</a:t>
            </a:r>
            <a:endParaRPr sz="700"/>
          </a:p>
        </p:txBody>
      </p:sp>
      <p:pic>
        <p:nvPicPr>
          <p:cNvPr id="105" name="Google Shape;105;p17"/>
          <p:cNvPicPr preferRelativeResize="0"/>
          <p:nvPr/>
        </p:nvPicPr>
        <p:blipFill>
          <a:blip r:embed="rId4">
            <a:alphaModFix/>
          </a:blip>
          <a:stretch>
            <a:fillRect/>
          </a:stretch>
        </p:blipFill>
        <p:spPr>
          <a:xfrm>
            <a:off x="597450" y="1152475"/>
            <a:ext cx="5190551" cy="3641375"/>
          </a:xfrm>
          <a:prstGeom prst="rect">
            <a:avLst/>
          </a:prstGeom>
          <a:noFill/>
          <a:ln>
            <a:noFill/>
          </a:ln>
        </p:spPr>
      </p:pic>
      <p:sp>
        <p:nvSpPr>
          <p:cNvPr id="106" name="Google Shape;106;p17"/>
          <p:cNvSpPr txBox="1"/>
          <p:nvPr/>
        </p:nvSpPr>
        <p:spPr>
          <a:xfrm>
            <a:off x="370625" y="4568875"/>
            <a:ext cx="51054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l" sz="700"/>
              <a:t>Source: https://www.edrawmax.com/decision-tree/</a:t>
            </a:r>
            <a:endParaRPr sz="7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SUPPORT VECTOR MACHINE - SVM</a:t>
            </a:r>
            <a:endParaRPr/>
          </a:p>
        </p:txBody>
      </p:sp>
      <p:sp>
        <p:nvSpPr>
          <p:cNvPr id="112" name="Google Shape;112;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pic>
        <p:nvPicPr>
          <p:cNvPr id="113" name="Google Shape;113;p18"/>
          <p:cNvPicPr preferRelativeResize="0"/>
          <p:nvPr/>
        </p:nvPicPr>
        <p:blipFill rotWithShape="1">
          <a:blip r:embed="rId3">
            <a:alphaModFix/>
          </a:blip>
          <a:srcRect b="5529" l="3709" r="-3710" t="-5530"/>
          <a:stretch/>
        </p:blipFill>
        <p:spPr>
          <a:xfrm>
            <a:off x="232575" y="1225550"/>
            <a:ext cx="5156199" cy="2376750"/>
          </a:xfrm>
          <a:prstGeom prst="rect">
            <a:avLst/>
          </a:prstGeom>
          <a:noFill/>
          <a:ln>
            <a:noFill/>
          </a:ln>
        </p:spPr>
      </p:pic>
      <p:sp>
        <p:nvSpPr>
          <p:cNvPr id="114" name="Google Shape;114;p18"/>
          <p:cNvSpPr txBox="1"/>
          <p:nvPr/>
        </p:nvSpPr>
        <p:spPr>
          <a:xfrm>
            <a:off x="108200" y="3668050"/>
            <a:ext cx="4936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l" sz="1000">
                <a:latin typeface="Proxima Nova"/>
                <a:ea typeface="Proxima Nova"/>
                <a:cs typeface="Proxima Nova"/>
                <a:sym typeface="Proxima Nova"/>
              </a:rPr>
              <a:t>Source: https://towardsdatascience.com/support-vector-machines-svm-c9ef22815589</a:t>
            </a:r>
            <a:endParaRPr sz="1000">
              <a:latin typeface="Proxima Nova"/>
              <a:ea typeface="Proxima Nova"/>
              <a:cs typeface="Proxima Nova"/>
              <a:sym typeface="Proxima Nova"/>
            </a:endParaRPr>
          </a:p>
        </p:txBody>
      </p:sp>
      <p:pic>
        <p:nvPicPr>
          <p:cNvPr id="115" name="Google Shape;115;p18"/>
          <p:cNvPicPr preferRelativeResize="0"/>
          <p:nvPr/>
        </p:nvPicPr>
        <p:blipFill>
          <a:blip r:embed="rId4">
            <a:alphaModFix/>
          </a:blip>
          <a:stretch>
            <a:fillRect/>
          </a:stretch>
        </p:blipFill>
        <p:spPr>
          <a:xfrm>
            <a:off x="5154576" y="1115350"/>
            <a:ext cx="3928349" cy="3191783"/>
          </a:xfrm>
          <a:prstGeom prst="rect">
            <a:avLst/>
          </a:prstGeom>
          <a:noFill/>
          <a:ln>
            <a:noFill/>
          </a:ln>
        </p:spPr>
      </p:pic>
      <p:sp>
        <p:nvSpPr>
          <p:cNvPr id="116" name="Google Shape;116;p18"/>
          <p:cNvSpPr txBox="1"/>
          <p:nvPr/>
        </p:nvSpPr>
        <p:spPr>
          <a:xfrm>
            <a:off x="5562150" y="4491000"/>
            <a:ext cx="2221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Proxima Nova"/>
              <a:ea typeface="Proxima Nova"/>
              <a:cs typeface="Proxima Nova"/>
              <a:sym typeface="Proxima Nova"/>
            </a:endParaRPr>
          </a:p>
        </p:txBody>
      </p:sp>
      <p:sp>
        <p:nvSpPr>
          <p:cNvPr id="117" name="Google Shape;117;p18"/>
          <p:cNvSpPr txBox="1"/>
          <p:nvPr/>
        </p:nvSpPr>
        <p:spPr>
          <a:xfrm>
            <a:off x="3926825" y="4276700"/>
            <a:ext cx="5156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l" sz="1000">
                <a:latin typeface="Proxima Nova"/>
                <a:ea typeface="Proxima Nova"/>
                <a:cs typeface="Proxima Nova"/>
                <a:sym typeface="Proxima Nova"/>
              </a:rPr>
              <a:t>Source: https://www.javatpoint.com/machine-learning-support-vector-machine-algorithm</a:t>
            </a:r>
            <a:endParaRPr sz="1000">
              <a:latin typeface="Proxima Nova"/>
              <a:ea typeface="Proxima Nova"/>
              <a:cs typeface="Proxima Nova"/>
              <a:sym typeface="Proxima Nov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HARD MARGIN AND SOFT MARGIN - SVM</a:t>
            </a:r>
            <a:endParaRPr/>
          </a:p>
        </p:txBody>
      </p:sp>
      <p:sp>
        <p:nvSpPr>
          <p:cNvPr id="123" name="Google Shape;123;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sp>
        <p:nvSpPr>
          <p:cNvPr id="124" name="Google Shape;124;p19"/>
          <p:cNvSpPr txBox="1"/>
          <p:nvPr/>
        </p:nvSpPr>
        <p:spPr>
          <a:xfrm>
            <a:off x="108200" y="3668050"/>
            <a:ext cx="4936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l" sz="1000">
                <a:latin typeface="Proxima Nova"/>
                <a:ea typeface="Proxima Nova"/>
                <a:cs typeface="Proxima Nova"/>
                <a:sym typeface="Proxima Nova"/>
              </a:rPr>
              <a:t>Source: https://www.baeldung.com/cs/svm-hard-margin-vs-soft-margin</a:t>
            </a:r>
            <a:endParaRPr sz="1000">
              <a:latin typeface="Proxima Nova"/>
              <a:ea typeface="Proxima Nova"/>
              <a:cs typeface="Proxima Nova"/>
              <a:sym typeface="Proxima Nova"/>
            </a:endParaRPr>
          </a:p>
        </p:txBody>
      </p:sp>
      <p:sp>
        <p:nvSpPr>
          <p:cNvPr id="125" name="Google Shape;125;p19"/>
          <p:cNvSpPr txBox="1"/>
          <p:nvPr/>
        </p:nvSpPr>
        <p:spPr>
          <a:xfrm>
            <a:off x="5562150" y="4491000"/>
            <a:ext cx="2221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Proxima Nova"/>
              <a:ea typeface="Proxima Nova"/>
              <a:cs typeface="Proxima Nova"/>
              <a:sym typeface="Proxima Nova"/>
            </a:endParaRPr>
          </a:p>
        </p:txBody>
      </p:sp>
      <p:sp>
        <p:nvSpPr>
          <p:cNvPr id="126" name="Google Shape;126;p19"/>
          <p:cNvSpPr txBox="1"/>
          <p:nvPr/>
        </p:nvSpPr>
        <p:spPr>
          <a:xfrm>
            <a:off x="4791125" y="4227125"/>
            <a:ext cx="41796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l" sz="1000">
                <a:latin typeface="Proxima Nova"/>
                <a:ea typeface="Proxima Nova"/>
                <a:cs typeface="Proxima Nova"/>
                <a:sym typeface="Proxima Nova"/>
              </a:rPr>
              <a:t>Source: https://www.baeldung.com/cs/svm-hard-margin-vs-soft-margin</a:t>
            </a:r>
            <a:endParaRPr sz="1000">
              <a:latin typeface="Proxima Nova"/>
              <a:ea typeface="Proxima Nova"/>
              <a:cs typeface="Proxima Nova"/>
              <a:sym typeface="Proxima Nova"/>
            </a:endParaRPr>
          </a:p>
        </p:txBody>
      </p:sp>
      <p:pic>
        <p:nvPicPr>
          <p:cNvPr id="127" name="Google Shape;127;p19"/>
          <p:cNvPicPr preferRelativeResize="0"/>
          <p:nvPr/>
        </p:nvPicPr>
        <p:blipFill>
          <a:blip r:embed="rId3">
            <a:alphaModFix/>
          </a:blip>
          <a:stretch>
            <a:fillRect/>
          </a:stretch>
        </p:blipFill>
        <p:spPr>
          <a:xfrm>
            <a:off x="5241100" y="1437450"/>
            <a:ext cx="3376700" cy="2633825"/>
          </a:xfrm>
          <a:prstGeom prst="rect">
            <a:avLst/>
          </a:prstGeom>
          <a:noFill/>
          <a:ln>
            <a:noFill/>
          </a:ln>
        </p:spPr>
      </p:pic>
      <p:pic>
        <p:nvPicPr>
          <p:cNvPr id="128" name="Google Shape;128;p19"/>
          <p:cNvPicPr preferRelativeResize="0"/>
          <p:nvPr/>
        </p:nvPicPr>
        <p:blipFill>
          <a:blip r:embed="rId4">
            <a:alphaModFix/>
          </a:blip>
          <a:stretch>
            <a:fillRect/>
          </a:stretch>
        </p:blipFill>
        <p:spPr>
          <a:xfrm>
            <a:off x="608950" y="971225"/>
            <a:ext cx="3498400" cy="27054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 NON-LINEAR SVM - KERNEL TRICKS</a:t>
            </a:r>
            <a:endParaRPr/>
          </a:p>
        </p:txBody>
      </p:sp>
      <p:sp>
        <p:nvSpPr>
          <p:cNvPr id="134" name="Google Shape;134;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pic>
        <p:nvPicPr>
          <p:cNvPr id="135" name="Google Shape;135;p20"/>
          <p:cNvPicPr preferRelativeResize="0"/>
          <p:nvPr/>
        </p:nvPicPr>
        <p:blipFill>
          <a:blip r:embed="rId3">
            <a:alphaModFix/>
          </a:blip>
          <a:stretch>
            <a:fillRect/>
          </a:stretch>
        </p:blipFill>
        <p:spPr>
          <a:xfrm>
            <a:off x="612675" y="1274575"/>
            <a:ext cx="8054525" cy="3294300"/>
          </a:xfrm>
          <a:prstGeom prst="rect">
            <a:avLst/>
          </a:prstGeom>
          <a:noFill/>
          <a:ln>
            <a:noFill/>
          </a:ln>
        </p:spPr>
      </p:pic>
      <p:sp>
        <p:nvSpPr>
          <p:cNvPr id="136" name="Google Shape;136;p20"/>
          <p:cNvSpPr txBox="1"/>
          <p:nvPr/>
        </p:nvSpPr>
        <p:spPr>
          <a:xfrm>
            <a:off x="1829800" y="4568875"/>
            <a:ext cx="7030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l" sz="1000">
                <a:latin typeface="Proxima Nova"/>
                <a:ea typeface="Proxima Nova"/>
                <a:cs typeface="Proxima Nova"/>
                <a:sym typeface="Proxima Nova"/>
              </a:rPr>
              <a:t>Source: https://www.geeksforgeeks.org/introduction-to-support-vector-machines-svm/</a:t>
            </a:r>
            <a:endParaRPr sz="1000">
              <a:latin typeface="Proxima Nova"/>
              <a:ea typeface="Proxima Nova"/>
              <a:cs typeface="Proxima Nova"/>
              <a:sym typeface="Proxima Nov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pic>
        <p:nvPicPr>
          <p:cNvPr id="141" name="Google Shape;141;p21"/>
          <p:cNvPicPr preferRelativeResize="0"/>
          <p:nvPr/>
        </p:nvPicPr>
        <p:blipFill>
          <a:blip r:embed="rId3">
            <a:alphaModFix/>
          </a:blip>
          <a:stretch>
            <a:fillRect/>
          </a:stretch>
        </p:blipFill>
        <p:spPr>
          <a:xfrm>
            <a:off x="201400" y="1856575"/>
            <a:ext cx="4805725" cy="3051001"/>
          </a:xfrm>
          <a:prstGeom prst="rect">
            <a:avLst/>
          </a:prstGeom>
          <a:noFill/>
          <a:ln>
            <a:noFill/>
          </a:ln>
        </p:spPr>
      </p:pic>
      <p:pic>
        <p:nvPicPr>
          <p:cNvPr id="142" name="Google Shape;142;p21"/>
          <p:cNvPicPr preferRelativeResize="0"/>
          <p:nvPr/>
        </p:nvPicPr>
        <p:blipFill>
          <a:blip r:embed="rId4">
            <a:alphaModFix/>
          </a:blip>
          <a:stretch>
            <a:fillRect/>
          </a:stretch>
        </p:blipFill>
        <p:spPr>
          <a:xfrm>
            <a:off x="6123125" y="0"/>
            <a:ext cx="3020875" cy="2143125"/>
          </a:xfrm>
          <a:prstGeom prst="rect">
            <a:avLst/>
          </a:prstGeom>
          <a:noFill/>
          <a:ln>
            <a:noFill/>
          </a:ln>
        </p:spPr>
      </p:pic>
      <p:sp>
        <p:nvSpPr>
          <p:cNvPr id="143" name="Google Shape;143;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NEURAL NETWORK - BASICS </a:t>
            </a:r>
            <a:endParaRPr/>
          </a:p>
        </p:txBody>
      </p:sp>
      <p:sp>
        <p:nvSpPr>
          <p:cNvPr id="144" name="Google Shape;144;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pl" sz="1600"/>
              <a:t>Artificial Neural network</a:t>
            </a:r>
            <a:r>
              <a:rPr lang="pl" sz="1600"/>
              <a:t> - </a:t>
            </a:r>
            <a:r>
              <a:rPr lang="pl" sz="1600"/>
              <a:t>imitation</a:t>
            </a:r>
            <a:r>
              <a:rPr lang="pl" sz="1600"/>
              <a:t> of biological one</a:t>
            </a:r>
            <a:endParaRPr sz="1600"/>
          </a:p>
          <a:p>
            <a:pPr indent="-330200" lvl="0" marL="457200" rtl="0" algn="l">
              <a:spcBef>
                <a:spcPts val="0"/>
              </a:spcBef>
              <a:spcAft>
                <a:spcPts val="0"/>
              </a:spcAft>
              <a:buSzPts val="1600"/>
              <a:buChar char="★"/>
            </a:pPr>
            <a:r>
              <a:rPr lang="pl" sz="1600"/>
              <a:t>Dendrites, Synapses, Axon</a:t>
            </a:r>
            <a:endParaRPr sz="1600"/>
          </a:p>
          <a:p>
            <a:pPr indent="-330200" lvl="0" marL="457200" rtl="0" algn="l">
              <a:spcBef>
                <a:spcPts val="0"/>
              </a:spcBef>
              <a:spcAft>
                <a:spcPts val="0"/>
              </a:spcAft>
              <a:buSzPts val="1600"/>
              <a:buChar char="★"/>
            </a:pPr>
            <a:r>
              <a:rPr lang="pl" sz="1600"/>
              <a:t>Many Inputs, Weights, Sum junction, Activation function, Output</a:t>
            </a:r>
            <a:endParaRPr sz="1600"/>
          </a:p>
          <a:p>
            <a:pPr indent="0" lvl="0" marL="0" rtl="0" algn="l">
              <a:spcBef>
                <a:spcPts val="1200"/>
              </a:spcBef>
              <a:spcAft>
                <a:spcPts val="0"/>
              </a:spcAft>
              <a:buNone/>
            </a:pPr>
            <a:r>
              <a:t/>
            </a:r>
            <a:endParaRPr sz="1600"/>
          </a:p>
          <a:p>
            <a:pPr indent="0" lvl="0" marL="0" rtl="0" algn="l">
              <a:spcBef>
                <a:spcPts val="1200"/>
              </a:spcBef>
              <a:spcAft>
                <a:spcPts val="1200"/>
              </a:spcAft>
              <a:buNone/>
            </a:pPr>
            <a:r>
              <a:t/>
            </a:r>
            <a:endParaRPr/>
          </a:p>
        </p:txBody>
      </p:sp>
      <p:sp>
        <p:nvSpPr>
          <p:cNvPr id="145" name="Google Shape;145;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sp>
        <p:nvSpPr>
          <p:cNvPr id="146" name="Google Shape;146;p21"/>
          <p:cNvSpPr txBox="1"/>
          <p:nvPr/>
        </p:nvSpPr>
        <p:spPr>
          <a:xfrm>
            <a:off x="6565025" y="2233050"/>
            <a:ext cx="235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l" sz="400" u="sng">
                <a:solidFill>
                  <a:schemeClr val="hlink"/>
                </a:solidFill>
                <a:latin typeface="Proxima Nova"/>
                <a:ea typeface="Proxima Nova"/>
                <a:cs typeface="Proxima Nova"/>
                <a:sym typeface="Proxima Nova"/>
                <a:hlinkClick r:id="rId5"/>
              </a:rPr>
              <a:t>https://home.agh.edu.pl/~vlsi/AI/intro/</a:t>
            </a:r>
            <a:endParaRPr sz="400">
              <a:latin typeface="Proxima Nova"/>
              <a:ea typeface="Proxima Nova"/>
              <a:cs typeface="Proxima Nova"/>
              <a:sym typeface="Proxima Nova"/>
            </a:endParaRPr>
          </a:p>
          <a:p>
            <a:pPr indent="0" lvl="0" marL="0" rtl="0" algn="l">
              <a:spcBef>
                <a:spcPts val="0"/>
              </a:spcBef>
              <a:spcAft>
                <a:spcPts val="0"/>
              </a:spcAft>
              <a:buNone/>
            </a:pPr>
            <a:r>
              <a:t/>
            </a:r>
            <a:endParaRPr sz="1000">
              <a:latin typeface="Proxima Nova"/>
              <a:ea typeface="Proxima Nova"/>
              <a:cs typeface="Proxima Nova"/>
              <a:sym typeface="Proxima Nova"/>
            </a:endParaRPr>
          </a:p>
        </p:txBody>
      </p:sp>
      <p:sp>
        <p:nvSpPr>
          <p:cNvPr id="147" name="Google Shape;147;p21"/>
          <p:cNvSpPr txBox="1"/>
          <p:nvPr/>
        </p:nvSpPr>
        <p:spPr>
          <a:xfrm>
            <a:off x="201400" y="4703625"/>
            <a:ext cx="18591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l" sz="300"/>
              <a:t>Source: </a:t>
            </a:r>
            <a:r>
              <a:rPr lang="pl" sz="300" u="sng">
                <a:solidFill>
                  <a:schemeClr val="hlink"/>
                </a:solidFill>
                <a:hlinkClick r:id="rId6"/>
              </a:rPr>
              <a:t>https://theconversation.com/what-is-a-neural-network-a-computer-scientist-explains-151897</a:t>
            </a:r>
            <a:endParaRPr sz="300"/>
          </a:p>
        </p:txBody>
      </p:sp>
      <p:pic>
        <p:nvPicPr>
          <p:cNvPr id="148" name="Google Shape;148;p21"/>
          <p:cNvPicPr preferRelativeResize="0"/>
          <p:nvPr/>
        </p:nvPicPr>
        <p:blipFill rotWithShape="1">
          <a:blip r:embed="rId7">
            <a:alphaModFix/>
          </a:blip>
          <a:srcRect b="0" l="0" r="0" t="52084"/>
          <a:stretch/>
        </p:blipFill>
        <p:spPr>
          <a:xfrm>
            <a:off x="5007125" y="2783275"/>
            <a:ext cx="4052999" cy="1965720"/>
          </a:xfrm>
          <a:prstGeom prst="rect">
            <a:avLst/>
          </a:prstGeom>
          <a:noFill/>
          <a:ln>
            <a:noFill/>
          </a:ln>
        </p:spPr>
      </p:pic>
      <p:sp>
        <p:nvSpPr>
          <p:cNvPr id="149" name="Google Shape;149;p21"/>
          <p:cNvSpPr txBox="1"/>
          <p:nvPr/>
        </p:nvSpPr>
        <p:spPr>
          <a:xfrm>
            <a:off x="6701825" y="4451700"/>
            <a:ext cx="1081500" cy="788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pl" sz="400" u="sng">
                <a:solidFill>
                  <a:schemeClr val="hlink"/>
                </a:solidFill>
                <a:hlinkClick r:id="rId8"/>
              </a:rPr>
              <a:t>http://zsi.ii.us.edu.pl/~nowak/si/SI_w4.pdf</a:t>
            </a:r>
            <a:endParaRPr sz="400" u="sng">
              <a:solidFill>
                <a:schemeClr val="hlink"/>
              </a:solidFill>
            </a:endParaRPr>
          </a:p>
          <a:p>
            <a:pPr indent="0" lvl="0" marL="0" rtl="0" algn="l">
              <a:spcBef>
                <a:spcPts val="1200"/>
              </a:spcBef>
              <a:spcAft>
                <a:spcPts val="0"/>
              </a:spcAft>
              <a:buNone/>
            </a:pPr>
            <a:r>
              <a:t/>
            </a:r>
            <a:endParaRPr sz="1000">
              <a:latin typeface="Proxima Nova"/>
              <a:ea typeface="Proxima Nova"/>
              <a:cs typeface="Proxima Nova"/>
              <a:sym typeface="Proxima Nova"/>
            </a:endParaRPr>
          </a:p>
          <a:p>
            <a:pPr indent="0" lvl="0" marL="0" rtl="0" algn="l">
              <a:spcBef>
                <a:spcPts val="0"/>
              </a:spcBef>
              <a:spcAft>
                <a:spcPts val="0"/>
              </a:spcAft>
              <a:buNone/>
            </a:pPr>
            <a:r>
              <a:t/>
            </a:r>
            <a:endParaRPr sz="1000">
              <a:latin typeface="Proxima Nova"/>
              <a:ea typeface="Proxima Nova"/>
              <a:cs typeface="Proxima Nova"/>
              <a:sym typeface="Proxima Nov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NEURAL NETWORK - BASICS</a:t>
            </a:r>
            <a:endParaRPr/>
          </a:p>
        </p:txBody>
      </p:sp>
      <p:sp>
        <p:nvSpPr>
          <p:cNvPr id="155" name="Google Shape;155;p22"/>
          <p:cNvSpPr txBox="1"/>
          <p:nvPr>
            <p:ph idx="1" type="body"/>
          </p:nvPr>
        </p:nvSpPr>
        <p:spPr>
          <a:xfrm>
            <a:off x="311700" y="1152475"/>
            <a:ext cx="6367500" cy="18690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pl" sz="1600"/>
              <a:t>Perceptron - simple model of neuron</a:t>
            </a:r>
            <a:endParaRPr sz="1600"/>
          </a:p>
          <a:p>
            <a:pPr indent="-330200" lvl="0" marL="457200" rtl="0" algn="l">
              <a:spcBef>
                <a:spcPts val="0"/>
              </a:spcBef>
              <a:spcAft>
                <a:spcPts val="0"/>
              </a:spcAft>
              <a:buSzPts val="1600"/>
              <a:buChar char="★"/>
            </a:pPr>
            <a:r>
              <a:rPr lang="pl" sz="1600"/>
              <a:t>Most NN  have Input Layer, Hidden Layer/s, Output Layer</a:t>
            </a:r>
            <a:endParaRPr sz="1600"/>
          </a:p>
          <a:p>
            <a:pPr indent="-330200" lvl="0" marL="457200" rtl="0" algn="l">
              <a:spcBef>
                <a:spcPts val="0"/>
              </a:spcBef>
              <a:spcAft>
                <a:spcPts val="0"/>
              </a:spcAft>
              <a:buSzPts val="1600"/>
              <a:buChar char="★"/>
            </a:pPr>
            <a:r>
              <a:rPr lang="pl" sz="1600"/>
              <a:t>Many Inputs, Weights, Sum junction, Activation function, Output</a:t>
            </a:r>
            <a:endParaRPr sz="1600"/>
          </a:p>
          <a:p>
            <a:pPr indent="0" lvl="0" marL="0" rtl="0" algn="l">
              <a:spcBef>
                <a:spcPts val="1200"/>
              </a:spcBef>
              <a:spcAft>
                <a:spcPts val="1200"/>
              </a:spcAft>
              <a:buNone/>
            </a:pPr>
            <a:r>
              <a:rPr lang="pl"/>
              <a:t> </a:t>
            </a:r>
            <a:endParaRPr/>
          </a:p>
        </p:txBody>
      </p:sp>
      <p:sp>
        <p:nvSpPr>
          <p:cNvPr id="156" name="Google Shape;156;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pic>
        <p:nvPicPr>
          <p:cNvPr id="157" name="Google Shape;157;p22"/>
          <p:cNvPicPr preferRelativeResize="0"/>
          <p:nvPr/>
        </p:nvPicPr>
        <p:blipFill>
          <a:blip r:embed="rId3">
            <a:alphaModFix/>
          </a:blip>
          <a:stretch>
            <a:fillRect/>
          </a:stretch>
        </p:blipFill>
        <p:spPr>
          <a:xfrm>
            <a:off x="646825" y="2267125"/>
            <a:ext cx="3219350" cy="2026075"/>
          </a:xfrm>
          <a:prstGeom prst="rect">
            <a:avLst/>
          </a:prstGeom>
          <a:noFill/>
          <a:ln>
            <a:noFill/>
          </a:ln>
        </p:spPr>
      </p:pic>
      <p:pic>
        <p:nvPicPr>
          <p:cNvPr id="158" name="Google Shape;158;p22"/>
          <p:cNvPicPr preferRelativeResize="0"/>
          <p:nvPr/>
        </p:nvPicPr>
        <p:blipFill>
          <a:blip r:embed="rId4">
            <a:alphaModFix/>
          </a:blip>
          <a:stretch>
            <a:fillRect/>
          </a:stretch>
        </p:blipFill>
        <p:spPr>
          <a:xfrm>
            <a:off x="4024849" y="2260263"/>
            <a:ext cx="4807450" cy="1869075"/>
          </a:xfrm>
          <a:prstGeom prst="rect">
            <a:avLst/>
          </a:prstGeom>
          <a:noFill/>
          <a:ln>
            <a:noFill/>
          </a:ln>
        </p:spPr>
      </p:pic>
      <p:pic>
        <p:nvPicPr>
          <p:cNvPr id="159" name="Google Shape;159;p22"/>
          <p:cNvPicPr preferRelativeResize="0"/>
          <p:nvPr/>
        </p:nvPicPr>
        <p:blipFill rotWithShape="1">
          <a:blip r:embed="rId5">
            <a:alphaModFix/>
          </a:blip>
          <a:srcRect b="18467" l="0" r="0" t="0"/>
          <a:stretch/>
        </p:blipFill>
        <p:spPr>
          <a:xfrm>
            <a:off x="6116025" y="445025"/>
            <a:ext cx="2905125" cy="1281350"/>
          </a:xfrm>
          <a:prstGeom prst="rect">
            <a:avLst/>
          </a:prstGeom>
          <a:noFill/>
          <a:ln>
            <a:noFill/>
          </a:ln>
        </p:spPr>
      </p:pic>
      <p:sp>
        <p:nvSpPr>
          <p:cNvPr id="160" name="Google Shape;160;p22"/>
          <p:cNvSpPr txBox="1"/>
          <p:nvPr/>
        </p:nvSpPr>
        <p:spPr>
          <a:xfrm>
            <a:off x="6581550" y="1726375"/>
            <a:ext cx="1890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l" sz="400">
                <a:latin typeface="Proxima Nova"/>
                <a:ea typeface="Proxima Nova"/>
                <a:cs typeface="Proxima Nova"/>
                <a:sym typeface="Proxima Nova"/>
              </a:rPr>
              <a:t>Perceptron - single layer</a:t>
            </a:r>
            <a:endParaRPr sz="400">
              <a:latin typeface="Proxima Nova"/>
              <a:ea typeface="Proxima Nova"/>
              <a:cs typeface="Proxima Nova"/>
              <a:sym typeface="Proxima Nova"/>
            </a:endParaRPr>
          </a:p>
          <a:p>
            <a:pPr indent="0" lvl="0" marL="0" rtl="0" algn="l">
              <a:spcBef>
                <a:spcPts val="0"/>
              </a:spcBef>
              <a:spcAft>
                <a:spcPts val="0"/>
              </a:spcAft>
              <a:buNone/>
            </a:pPr>
            <a:r>
              <a:rPr lang="pl" sz="400" u="sng">
                <a:solidFill>
                  <a:schemeClr val="hlink"/>
                </a:solidFill>
                <a:latin typeface="Proxima Nova"/>
                <a:ea typeface="Proxima Nova"/>
                <a:cs typeface="Proxima Nova"/>
                <a:sym typeface="Proxima Nova"/>
                <a:hlinkClick r:id="rId6"/>
              </a:rPr>
              <a:t>https://towardsdatascience.com/what-is-a-perceptron-210a50190c3b</a:t>
            </a:r>
            <a:endParaRPr>
              <a:latin typeface="Proxima Nova"/>
              <a:ea typeface="Proxima Nova"/>
              <a:cs typeface="Proxima Nova"/>
              <a:sym typeface="Proxima Nova"/>
            </a:endParaRPr>
          </a:p>
        </p:txBody>
      </p:sp>
      <p:sp>
        <p:nvSpPr>
          <p:cNvPr id="161" name="Google Shape;161;p22"/>
          <p:cNvSpPr txBox="1"/>
          <p:nvPr/>
        </p:nvSpPr>
        <p:spPr>
          <a:xfrm>
            <a:off x="853700" y="4703625"/>
            <a:ext cx="28056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l" sz="500" u="sng">
                <a:solidFill>
                  <a:schemeClr val="hlink"/>
                </a:solidFill>
                <a:latin typeface="Proxima Nova"/>
                <a:ea typeface="Proxima Nova"/>
                <a:cs typeface="Proxima Nova"/>
                <a:sym typeface="Proxima Nova"/>
                <a:hlinkClick r:id="rId7"/>
              </a:rPr>
              <a:t>https://towardsdatascience.com/a-beginner-friendly-explanation-of-how-neural-networks-work-55064db60df4</a:t>
            </a:r>
            <a:endParaRPr sz="500">
              <a:latin typeface="Proxima Nova"/>
              <a:ea typeface="Proxima Nova"/>
              <a:cs typeface="Proxima Nova"/>
              <a:sym typeface="Proxima Nova"/>
            </a:endParaRPr>
          </a:p>
          <a:p>
            <a:pPr indent="0" lvl="0" marL="0" rtl="0" algn="l">
              <a:spcBef>
                <a:spcPts val="0"/>
              </a:spcBef>
              <a:spcAft>
                <a:spcPts val="0"/>
              </a:spcAft>
              <a:buNone/>
            </a:pPr>
            <a:r>
              <a:t/>
            </a:r>
            <a:endParaRPr sz="500">
              <a:latin typeface="Proxima Nova"/>
              <a:ea typeface="Proxima Nova"/>
              <a:cs typeface="Proxima Nova"/>
              <a:sym typeface="Proxima Nova"/>
            </a:endParaRPr>
          </a:p>
        </p:txBody>
      </p:sp>
      <p:sp>
        <p:nvSpPr>
          <p:cNvPr id="162" name="Google Shape;162;p22"/>
          <p:cNvSpPr txBox="1"/>
          <p:nvPr/>
        </p:nvSpPr>
        <p:spPr>
          <a:xfrm>
            <a:off x="4354975" y="4663225"/>
            <a:ext cx="28056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l" sz="500">
                <a:latin typeface="Proxima Nova"/>
                <a:ea typeface="Proxima Nova"/>
                <a:cs typeface="Proxima Nova"/>
                <a:sym typeface="Proxima Nova"/>
              </a:rPr>
              <a:t>https://towardsdatascience.com/a-beginner-friendly-explanation-of-how-neural-networks-work-55064db60df4</a:t>
            </a:r>
            <a:endParaRPr sz="500">
              <a:latin typeface="Proxima Nova"/>
              <a:ea typeface="Proxima Nova"/>
              <a:cs typeface="Proxima Nova"/>
              <a:sym typeface="Proxima Nov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NEURAL NETWORK</a:t>
            </a:r>
            <a:endParaRPr/>
          </a:p>
        </p:txBody>
      </p:sp>
      <p:sp>
        <p:nvSpPr>
          <p:cNvPr id="168" name="Google Shape;168;p23"/>
          <p:cNvSpPr txBox="1"/>
          <p:nvPr>
            <p:ph idx="1" type="body"/>
          </p:nvPr>
        </p:nvSpPr>
        <p:spPr>
          <a:xfrm>
            <a:off x="311700" y="1600363"/>
            <a:ext cx="4375500" cy="21612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pl" sz="1600"/>
              <a:t>Paradigm (Supervised, unsupervised)</a:t>
            </a:r>
            <a:endParaRPr sz="1600"/>
          </a:p>
          <a:p>
            <a:pPr indent="-330200" lvl="0" marL="457200" rtl="0" algn="l">
              <a:spcBef>
                <a:spcPts val="0"/>
              </a:spcBef>
              <a:spcAft>
                <a:spcPts val="0"/>
              </a:spcAft>
              <a:buSzPts val="1600"/>
              <a:buChar char="★"/>
            </a:pPr>
            <a:r>
              <a:rPr lang="pl" sz="1600"/>
              <a:t>Learning rule</a:t>
            </a:r>
            <a:endParaRPr sz="1600"/>
          </a:p>
          <a:p>
            <a:pPr indent="-330200" lvl="0" marL="457200" rtl="0" algn="l">
              <a:spcBef>
                <a:spcPts val="0"/>
              </a:spcBef>
              <a:spcAft>
                <a:spcPts val="0"/>
              </a:spcAft>
              <a:buSzPts val="1600"/>
              <a:buChar char="★"/>
            </a:pPr>
            <a:r>
              <a:rPr lang="pl" sz="1600"/>
              <a:t>Architecture (Single/Multi Layer,</a:t>
            </a:r>
            <a:endParaRPr sz="1600"/>
          </a:p>
          <a:p>
            <a:pPr indent="0" lvl="0" marL="457200" rtl="0" algn="l">
              <a:spcBef>
                <a:spcPts val="1200"/>
              </a:spcBef>
              <a:spcAft>
                <a:spcPts val="0"/>
              </a:spcAft>
              <a:buNone/>
            </a:pPr>
            <a:r>
              <a:rPr lang="pl" sz="1600"/>
              <a:t>  FeedForward/Competitive, ANN, RNN, CNN...)</a:t>
            </a:r>
            <a:endParaRPr sz="1600"/>
          </a:p>
          <a:p>
            <a:pPr indent="-330200" lvl="0" marL="457200" rtl="0" algn="l">
              <a:spcBef>
                <a:spcPts val="1200"/>
              </a:spcBef>
              <a:spcAft>
                <a:spcPts val="0"/>
              </a:spcAft>
              <a:buSzPts val="1600"/>
              <a:buChar char="★"/>
            </a:pPr>
            <a:r>
              <a:rPr lang="pl" sz="1600"/>
              <a:t>Learning Algorithm</a:t>
            </a:r>
            <a:endParaRPr/>
          </a:p>
        </p:txBody>
      </p:sp>
      <p:sp>
        <p:nvSpPr>
          <p:cNvPr id="169" name="Google Shape;169;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pic>
        <p:nvPicPr>
          <p:cNvPr id="170" name="Google Shape;170;p23"/>
          <p:cNvPicPr preferRelativeResize="0"/>
          <p:nvPr/>
        </p:nvPicPr>
        <p:blipFill rotWithShape="1">
          <a:blip r:embed="rId3">
            <a:alphaModFix/>
          </a:blip>
          <a:srcRect b="2049" l="26144" r="-1315" t="4352"/>
          <a:stretch/>
        </p:blipFill>
        <p:spPr>
          <a:xfrm>
            <a:off x="4572000" y="129525"/>
            <a:ext cx="4572000" cy="4044575"/>
          </a:xfrm>
          <a:prstGeom prst="rect">
            <a:avLst/>
          </a:prstGeom>
          <a:noFill/>
          <a:ln>
            <a:noFill/>
          </a:ln>
        </p:spPr>
      </p:pic>
      <p:sp>
        <p:nvSpPr>
          <p:cNvPr id="171" name="Google Shape;171;p23"/>
          <p:cNvSpPr txBox="1"/>
          <p:nvPr/>
        </p:nvSpPr>
        <p:spPr>
          <a:xfrm>
            <a:off x="311700" y="4344225"/>
            <a:ext cx="8520600" cy="6480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lang="pl">
                <a:latin typeface="Proxima Nova"/>
                <a:ea typeface="Proxima Nova"/>
                <a:cs typeface="Proxima Nova"/>
                <a:sym typeface="Proxima Nova"/>
              </a:rPr>
              <a:t>Advantages: computational power, non-linear modeling capabilities, multiple applications – e.g. text classification/prediction</a:t>
            </a:r>
            <a:endParaRPr>
              <a:latin typeface="Proxima Nova"/>
              <a:ea typeface="Proxima Nova"/>
              <a:cs typeface="Proxima Nova"/>
              <a:sym typeface="Proxima Nova"/>
            </a:endParaRPr>
          </a:p>
        </p:txBody>
      </p:sp>
      <p:sp>
        <p:nvSpPr>
          <p:cNvPr id="172" name="Google Shape;172;p23"/>
          <p:cNvSpPr txBox="1"/>
          <p:nvPr/>
        </p:nvSpPr>
        <p:spPr>
          <a:xfrm>
            <a:off x="4835225" y="4174100"/>
            <a:ext cx="21213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l" sz="400" u="sng">
                <a:solidFill>
                  <a:schemeClr val="hlink"/>
                </a:solidFill>
                <a:latin typeface="Proxima Nova"/>
                <a:ea typeface="Proxima Nova"/>
                <a:cs typeface="Proxima Nova"/>
                <a:sym typeface="Proxima Nova"/>
                <a:hlinkClick r:id="rId4"/>
              </a:rPr>
              <a:t>https://towardsdatascience.com/the-mostly-complete-chart-of-neural-networks-explained-3fb6f2367464</a:t>
            </a:r>
            <a:endParaRPr>
              <a:latin typeface="Proxima Nova"/>
              <a:ea typeface="Proxima Nova"/>
              <a:cs typeface="Proxima Nova"/>
              <a:sym typeface="Proxima Nov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71"/>
                                        </p:tgtEl>
                                        <p:attrNameLst>
                                          <p:attrName>style.visibility</p:attrName>
                                        </p:attrNameLst>
                                      </p:cBhvr>
                                      <p:to>
                                        <p:strVal val="visible"/>
                                      </p:to>
                                    </p:set>
                                    <p:anim calcmode="lin" valueType="num">
                                      <p:cBhvr additive="base">
                                        <p:cTn dur="1200"/>
                                        <p:tgtEl>
                                          <p:spTgt spid="171"/>
                                        </p:tgtEl>
                                        <p:attrNameLst>
                                          <p:attrName>ppt_w</p:attrName>
                                        </p:attrNameLst>
                                      </p:cBhvr>
                                      <p:tavLst>
                                        <p:tav fmla="" tm="0">
                                          <p:val>
                                            <p:strVal val="0"/>
                                          </p:val>
                                        </p:tav>
                                        <p:tav fmla="" tm="100000">
                                          <p:val>
                                            <p:strVal val="#ppt_w"/>
                                          </p:val>
                                        </p:tav>
                                      </p:tavLst>
                                    </p:anim>
                                    <p:anim calcmode="lin" valueType="num">
                                      <p:cBhvr additive="base">
                                        <p:cTn dur="1200"/>
                                        <p:tgtEl>
                                          <p:spTgt spid="171"/>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4"/>
          <p:cNvSpPr txBox="1"/>
          <p:nvPr>
            <p:ph idx="1" type="body"/>
          </p:nvPr>
        </p:nvSpPr>
        <p:spPr>
          <a:xfrm>
            <a:off x="311700" y="3071300"/>
            <a:ext cx="8520600" cy="9018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pl"/>
              <a:t>Any questions?</a:t>
            </a:r>
            <a:endParaRPr/>
          </a:p>
        </p:txBody>
      </p:sp>
      <p:sp>
        <p:nvSpPr>
          <p:cNvPr id="178" name="Google Shape;178;p24"/>
          <p:cNvSpPr txBox="1"/>
          <p:nvPr>
            <p:ph type="title"/>
          </p:nvPr>
        </p:nvSpPr>
        <p:spPr>
          <a:xfrm>
            <a:off x="311700" y="991475"/>
            <a:ext cx="8520600" cy="1917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pl" sz="3000"/>
              <a:t>Thank you for your attention!</a:t>
            </a:r>
            <a:endParaRPr sz="3000"/>
          </a:p>
        </p:txBody>
      </p:sp>
      <p:sp>
        <p:nvSpPr>
          <p:cNvPr id="179" name="Google Shape;179;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