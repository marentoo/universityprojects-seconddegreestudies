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6" r:id="rId3"/>
    <p:sldId id="259" r:id="rId4"/>
    <p:sldId id="260" r:id="rId5"/>
    <p:sldId id="266" r:id="rId6"/>
    <p:sldId id="261" r:id="rId7"/>
    <p:sldId id="268" r:id="rId8"/>
    <p:sldId id="280" r:id="rId9"/>
    <p:sldId id="278" r:id="rId10"/>
    <p:sldId id="282" r:id="rId11"/>
    <p:sldId id="285" r:id="rId12"/>
    <p:sldId id="271" r:id="rId13"/>
    <p:sldId id="277" r:id="rId14"/>
    <p:sldId id="276" r:id="rId15"/>
    <p:sldId id="272" r:id="rId16"/>
    <p:sldId id="273" r:id="rId17"/>
    <p:sldId id="279" r:id="rId18"/>
    <p:sldId id="267" r:id="rId19"/>
    <p:sldId id="258" r:id="rId20"/>
    <p:sldId id="28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5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racle" initials="o" lastIdx="1" clrIdx="0">
    <p:extLst>
      <p:ext uri="{19B8F6BF-5375-455C-9EA6-DF929625EA0E}">
        <p15:presenceInfo xmlns:p15="http://schemas.microsoft.com/office/powerpoint/2012/main" userId="oracl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9DD1"/>
    <a:srgbClr val="B8BFC9"/>
    <a:srgbClr val="9CC7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168" y="78"/>
      </p:cViewPr>
      <p:guideLst>
        <p:guide orient="horz" pos="2160"/>
        <p:guide pos="35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8178EA-1555-4888-8837-6F747BBC49D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52159F8-F956-4F77-8230-599EE837612B}">
      <dgm:prSet/>
      <dgm:spPr/>
      <dgm:t>
        <a:bodyPr/>
        <a:lstStyle/>
        <a:p>
          <a:pPr algn="just"/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Bitmap and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Vector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Image,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Image’s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generation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,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Genetic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algorithm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DF06221-3617-40EA-8FBB-592FB2CF019C}" type="parTrans" cxnId="{497ED5BC-2A33-4E3F-B2CA-F5E6A4A4FFD5}">
      <dgm:prSet/>
      <dgm:spPr/>
      <dgm:t>
        <a:bodyPr/>
        <a:lstStyle/>
        <a:p>
          <a:endParaRPr lang="en-US"/>
        </a:p>
      </dgm:t>
    </dgm:pt>
    <dgm:pt modelId="{DB33048C-A677-4C7C-8600-4C1368A7E7B3}" type="sibTrans" cxnId="{497ED5BC-2A33-4E3F-B2CA-F5E6A4A4FFD5}">
      <dgm:prSet/>
      <dgm:spPr/>
      <dgm:t>
        <a:bodyPr/>
        <a:lstStyle/>
        <a:p>
          <a:endParaRPr lang="en-US"/>
        </a:p>
      </dgm:t>
    </dgm:pt>
    <dgm:pt modelId="{82494C8A-1118-40B7-ABB1-FB6CECB7F90D}">
      <dgm:prSet/>
      <dgm:spPr/>
      <dgm:t>
        <a:bodyPr/>
        <a:lstStyle/>
        <a:p>
          <a:pPr algn="just"/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Represent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image in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Vector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–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Based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graphic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by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generating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it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from Bitmap image,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using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GA for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smaller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size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and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clean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scalling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072A3C2-5258-48C2-852D-ED5F9D0BEC06}" type="parTrans" cxnId="{67652C82-27C0-4E7A-B056-B2479686E37B}">
      <dgm:prSet/>
      <dgm:spPr/>
      <dgm:t>
        <a:bodyPr/>
        <a:lstStyle/>
        <a:p>
          <a:endParaRPr lang="en-US"/>
        </a:p>
      </dgm:t>
    </dgm:pt>
    <dgm:pt modelId="{48892495-9B8F-4EBA-A8C9-71F05325E1D1}" type="sibTrans" cxnId="{67652C82-27C0-4E7A-B056-B2479686E37B}">
      <dgm:prSet/>
      <dgm:spPr/>
      <dgm:t>
        <a:bodyPr/>
        <a:lstStyle/>
        <a:p>
          <a:endParaRPr lang="en-US"/>
        </a:p>
      </dgm:t>
    </dgm:pt>
    <dgm:pt modelId="{00ADA2CF-F20A-41EC-A576-5111AEEBC07B}">
      <dgm:prSet/>
      <dgm:spPr/>
      <dgm:t>
        <a:bodyPr/>
        <a:lstStyle/>
        <a:p>
          <a:pPr algn="just"/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Generated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Images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that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resamble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+-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original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image and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analysis</a:t>
          </a:r>
          <a:r>
            <a:rPr lang="pl-PL" dirty="0">
              <a:latin typeface="Calibri" panose="020F0502020204030204" pitchFamily="34" charset="0"/>
              <a:cs typeface="Calibri" panose="020F0502020204030204" pitchFamily="34" charset="0"/>
            </a:rPr>
            <a:t> of the </a:t>
          </a:r>
          <a:r>
            <a:rPr lang="pl-PL" dirty="0" err="1">
              <a:latin typeface="Calibri" panose="020F0502020204030204" pitchFamily="34" charset="0"/>
              <a:cs typeface="Calibri" panose="020F0502020204030204" pitchFamily="34" charset="0"/>
            </a:rPr>
            <a:t>results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8A61CFD-3666-4839-9BD6-B9638C97FAC4}" type="parTrans" cxnId="{512503A5-A1F9-4D44-B6D5-496EBAEB950E}">
      <dgm:prSet/>
      <dgm:spPr/>
      <dgm:t>
        <a:bodyPr/>
        <a:lstStyle/>
        <a:p>
          <a:endParaRPr lang="en-US"/>
        </a:p>
      </dgm:t>
    </dgm:pt>
    <dgm:pt modelId="{0562CA65-B3AD-4664-B687-51A55FB0585F}" type="sibTrans" cxnId="{512503A5-A1F9-4D44-B6D5-496EBAEB950E}">
      <dgm:prSet/>
      <dgm:spPr/>
      <dgm:t>
        <a:bodyPr/>
        <a:lstStyle/>
        <a:p>
          <a:endParaRPr lang="en-US"/>
        </a:p>
      </dgm:t>
    </dgm:pt>
    <dgm:pt modelId="{C4A3BC75-62C2-49D9-9BA5-B0BB5EF9C119}" type="pres">
      <dgm:prSet presAssocID="{AE8178EA-1555-4888-8837-6F747BBC49D3}" presName="root" presStyleCnt="0">
        <dgm:presLayoutVars>
          <dgm:dir/>
          <dgm:resizeHandles val="exact"/>
        </dgm:presLayoutVars>
      </dgm:prSet>
      <dgm:spPr/>
    </dgm:pt>
    <dgm:pt modelId="{E287E2CA-4E2A-4970-8088-E54AB5234BCB}" type="pres">
      <dgm:prSet presAssocID="{152159F8-F956-4F77-8230-599EE837612B}" presName="compNode" presStyleCnt="0"/>
      <dgm:spPr/>
    </dgm:pt>
    <dgm:pt modelId="{38FF9BB9-0D6E-46A1-B209-4689DAFF36D2}" type="pres">
      <dgm:prSet presAssocID="{152159F8-F956-4F77-8230-599EE837612B}" presName="bgRect" presStyleLbl="bgShp" presStyleIdx="0" presStyleCnt="3"/>
      <dgm:spPr/>
    </dgm:pt>
    <dgm:pt modelId="{3FE5123D-ED88-4A82-B907-CD620C0F3C7D}" type="pres">
      <dgm:prSet presAssocID="{152159F8-F956-4F77-8230-599EE837612B}" presName="iconRect" presStyleLbl="node1" presStyleIdx="0" presStyleCnt="3" custLinFactNeighborX="-6531" custLinFactNeighborY="3284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ła zębate"/>
        </a:ext>
      </dgm:extLst>
    </dgm:pt>
    <dgm:pt modelId="{864EF8C5-AB7B-4114-8399-85893F630450}" type="pres">
      <dgm:prSet presAssocID="{152159F8-F956-4F77-8230-599EE837612B}" presName="spaceRect" presStyleCnt="0"/>
      <dgm:spPr/>
    </dgm:pt>
    <dgm:pt modelId="{E8E41DEA-AC3D-4FFD-8356-D195F777CA46}" type="pres">
      <dgm:prSet presAssocID="{152159F8-F956-4F77-8230-599EE837612B}" presName="parTx" presStyleLbl="revTx" presStyleIdx="0" presStyleCnt="3">
        <dgm:presLayoutVars>
          <dgm:chMax val="0"/>
          <dgm:chPref val="0"/>
        </dgm:presLayoutVars>
      </dgm:prSet>
      <dgm:spPr/>
    </dgm:pt>
    <dgm:pt modelId="{076FF2C1-B464-4B87-8174-FD0E040D25A4}" type="pres">
      <dgm:prSet presAssocID="{DB33048C-A677-4C7C-8600-4C1368A7E7B3}" presName="sibTrans" presStyleCnt="0"/>
      <dgm:spPr/>
    </dgm:pt>
    <dgm:pt modelId="{D407F1C0-CE44-4D79-8E20-ACF8D6908FA3}" type="pres">
      <dgm:prSet presAssocID="{82494C8A-1118-40B7-ABB1-FB6CECB7F90D}" presName="compNode" presStyleCnt="0"/>
      <dgm:spPr/>
    </dgm:pt>
    <dgm:pt modelId="{A47744BA-244F-4282-BE0A-704C7919A898}" type="pres">
      <dgm:prSet presAssocID="{82494C8A-1118-40B7-ABB1-FB6CECB7F90D}" presName="bgRect" presStyleLbl="bgShp" presStyleIdx="1" presStyleCnt="3"/>
      <dgm:spPr/>
    </dgm:pt>
    <dgm:pt modelId="{0CCC77BA-F4E7-4B24-9BF0-77C2B9D65684}" type="pres">
      <dgm:prSet presAssocID="{82494C8A-1118-40B7-ABB1-FB6CECB7F90D}" presName="iconRect" presStyleLbl="node1" presStyleIdx="1" presStyleCnt="3" custLinFactNeighborX="3699" custLinFactNeighborY="1456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zał w dziesiątkę"/>
        </a:ext>
      </dgm:extLst>
    </dgm:pt>
    <dgm:pt modelId="{5D9CF597-D576-40A5-BF01-98246C9BD934}" type="pres">
      <dgm:prSet presAssocID="{82494C8A-1118-40B7-ABB1-FB6CECB7F90D}" presName="spaceRect" presStyleCnt="0"/>
      <dgm:spPr/>
    </dgm:pt>
    <dgm:pt modelId="{948D2593-E131-4BE1-BE2B-DE6653119606}" type="pres">
      <dgm:prSet presAssocID="{82494C8A-1118-40B7-ABB1-FB6CECB7F90D}" presName="parTx" presStyleLbl="revTx" presStyleIdx="1" presStyleCnt="3">
        <dgm:presLayoutVars>
          <dgm:chMax val="0"/>
          <dgm:chPref val="0"/>
        </dgm:presLayoutVars>
      </dgm:prSet>
      <dgm:spPr/>
    </dgm:pt>
    <dgm:pt modelId="{B5E2F648-BFDF-4AD2-B36A-D28E5A26DFAC}" type="pres">
      <dgm:prSet presAssocID="{48892495-9B8F-4EBA-A8C9-71F05325E1D1}" presName="sibTrans" presStyleCnt="0"/>
      <dgm:spPr/>
    </dgm:pt>
    <dgm:pt modelId="{61345FAC-33E2-463E-A3EE-C583CDFD947C}" type="pres">
      <dgm:prSet presAssocID="{00ADA2CF-F20A-41EC-A576-5111AEEBC07B}" presName="compNode" presStyleCnt="0"/>
      <dgm:spPr/>
    </dgm:pt>
    <dgm:pt modelId="{6E7E1E40-CF5C-4FEB-B148-105822489093}" type="pres">
      <dgm:prSet presAssocID="{00ADA2CF-F20A-41EC-A576-5111AEEBC07B}" presName="bgRect" presStyleLbl="bgShp" presStyleIdx="2" presStyleCnt="3"/>
      <dgm:spPr/>
    </dgm:pt>
    <dgm:pt modelId="{8FEB36A9-B97E-4834-976A-1156641BC579}" type="pres">
      <dgm:prSet presAssocID="{00ADA2CF-F20A-41EC-A576-5111AEEBC07B}" presName="iconRect" presStyleLbl="node1" presStyleIdx="2" presStyleCnt="3" custLinFactNeighborX="866" custLinFactNeighborY="1109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braz"/>
        </a:ext>
      </dgm:extLst>
    </dgm:pt>
    <dgm:pt modelId="{018C23B7-A958-4B0B-854F-39D504EA10F4}" type="pres">
      <dgm:prSet presAssocID="{00ADA2CF-F20A-41EC-A576-5111AEEBC07B}" presName="spaceRect" presStyleCnt="0"/>
      <dgm:spPr/>
    </dgm:pt>
    <dgm:pt modelId="{AB8F56D1-5D15-439E-A6A5-D41A90C37815}" type="pres">
      <dgm:prSet presAssocID="{00ADA2CF-F20A-41EC-A576-5111AEEBC07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A22017-FEC1-4ECB-8D19-04FF1CAD5238}" type="presOf" srcId="{AE8178EA-1555-4888-8837-6F747BBC49D3}" destId="{C4A3BC75-62C2-49D9-9BA5-B0BB5EF9C119}" srcOrd="0" destOrd="0" presId="urn:microsoft.com/office/officeart/2018/2/layout/IconVerticalSolidList"/>
    <dgm:cxn modelId="{C4408D78-80D3-49D4-A032-C854AE52B82B}" type="presOf" srcId="{00ADA2CF-F20A-41EC-A576-5111AEEBC07B}" destId="{AB8F56D1-5D15-439E-A6A5-D41A90C37815}" srcOrd="0" destOrd="0" presId="urn:microsoft.com/office/officeart/2018/2/layout/IconVerticalSolidList"/>
    <dgm:cxn modelId="{67652C82-27C0-4E7A-B056-B2479686E37B}" srcId="{AE8178EA-1555-4888-8837-6F747BBC49D3}" destId="{82494C8A-1118-40B7-ABB1-FB6CECB7F90D}" srcOrd="1" destOrd="0" parTransId="{C072A3C2-5258-48C2-852D-ED5F9D0BEC06}" sibTransId="{48892495-9B8F-4EBA-A8C9-71F05325E1D1}"/>
    <dgm:cxn modelId="{512503A5-A1F9-4D44-B6D5-496EBAEB950E}" srcId="{AE8178EA-1555-4888-8837-6F747BBC49D3}" destId="{00ADA2CF-F20A-41EC-A576-5111AEEBC07B}" srcOrd="2" destOrd="0" parTransId="{08A61CFD-3666-4839-9BD6-B9638C97FAC4}" sibTransId="{0562CA65-B3AD-4664-B687-51A55FB0585F}"/>
    <dgm:cxn modelId="{497ED5BC-2A33-4E3F-B2CA-F5E6A4A4FFD5}" srcId="{AE8178EA-1555-4888-8837-6F747BBC49D3}" destId="{152159F8-F956-4F77-8230-599EE837612B}" srcOrd="0" destOrd="0" parTransId="{ADF06221-3617-40EA-8FBB-592FB2CF019C}" sibTransId="{DB33048C-A677-4C7C-8600-4C1368A7E7B3}"/>
    <dgm:cxn modelId="{BC33F5C2-E2C8-4470-85AB-36DD020EAFF1}" type="presOf" srcId="{152159F8-F956-4F77-8230-599EE837612B}" destId="{E8E41DEA-AC3D-4FFD-8356-D195F777CA46}" srcOrd="0" destOrd="0" presId="urn:microsoft.com/office/officeart/2018/2/layout/IconVerticalSolidList"/>
    <dgm:cxn modelId="{0FB464C4-9591-41D9-836F-ABA48D7E9DB9}" type="presOf" srcId="{82494C8A-1118-40B7-ABB1-FB6CECB7F90D}" destId="{948D2593-E131-4BE1-BE2B-DE6653119606}" srcOrd="0" destOrd="0" presId="urn:microsoft.com/office/officeart/2018/2/layout/IconVerticalSolidList"/>
    <dgm:cxn modelId="{8984B01C-1EE6-41A7-BE8F-2C9EF7EEE4D8}" type="presParOf" srcId="{C4A3BC75-62C2-49D9-9BA5-B0BB5EF9C119}" destId="{E287E2CA-4E2A-4970-8088-E54AB5234BCB}" srcOrd="0" destOrd="0" presId="urn:microsoft.com/office/officeart/2018/2/layout/IconVerticalSolidList"/>
    <dgm:cxn modelId="{DCB312E6-F1DB-474B-A851-536A4CC2969D}" type="presParOf" srcId="{E287E2CA-4E2A-4970-8088-E54AB5234BCB}" destId="{38FF9BB9-0D6E-46A1-B209-4689DAFF36D2}" srcOrd="0" destOrd="0" presId="urn:microsoft.com/office/officeart/2018/2/layout/IconVerticalSolidList"/>
    <dgm:cxn modelId="{4CA7FBD7-D3F5-41A8-AF44-71641C38D1F9}" type="presParOf" srcId="{E287E2CA-4E2A-4970-8088-E54AB5234BCB}" destId="{3FE5123D-ED88-4A82-B907-CD620C0F3C7D}" srcOrd="1" destOrd="0" presId="urn:microsoft.com/office/officeart/2018/2/layout/IconVerticalSolidList"/>
    <dgm:cxn modelId="{3456E998-FB76-4B6E-B60A-05F47A873CA1}" type="presParOf" srcId="{E287E2CA-4E2A-4970-8088-E54AB5234BCB}" destId="{864EF8C5-AB7B-4114-8399-85893F630450}" srcOrd="2" destOrd="0" presId="urn:microsoft.com/office/officeart/2018/2/layout/IconVerticalSolidList"/>
    <dgm:cxn modelId="{B1B0C050-8442-4CC0-8D98-118925D4476B}" type="presParOf" srcId="{E287E2CA-4E2A-4970-8088-E54AB5234BCB}" destId="{E8E41DEA-AC3D-4FFD-8356-D195F777CA46}" srcOrd="3" destOrd="0" presId="urn:microsoft.com/office/officeart/2018/2/layout/IconVerticalSolidList"/>
    <dgm:cxn modelId="{9F0E7DC5-9F1D-41EA-A379-29D51D634342}" type="presParOf" srcId="{C4A3BC75-62C2-49D9-9BA5-B0BB5EF9C119}" destId="{076FF2C1-B464-4B87-8174-FD0E040D25A4}" srcOrd="1" destOrd="0" presId="urn:microsoft.com/office/officeart/2018/2/layout/IconVerticalSolidList"/>
    <dgm:cxn modelId="{62BCE413-0DA5-4412-B55D-E4CB48821C5D}" type="presParOf" srcId="{C4A3BC75-62C2-49D9-9BA5-B0BB5EF9C119}" destId="{D407F1C0-CE44-4D79-8E20-ACF8D6908FA3}" srcOrd="2" destOrd="0" presId="urn:microsoft.com/office/officeart/2018/2/layout/IconVerticalSolidList"/>
    <dgm:cxn modelId="{38586842-1718-4482-AD8A-AFF5AF46EC15}" type="presParOf" srcId="{D407F1C0-CE44-4D79-8E20-ACF8D6908FA3}" destId="{A47744BA-244F-4282-BE0A-704C7919A898}" srcOrd="0" destOrd="0" presId="urn:microsoft.com/office/officeart/2018/2/layout/IconVerticalSolidList"/>
    <dgm:cxn modelId="{85851376-B934-40E0-8DB6-A15168439991}" type="presParOf" srcId="{D407F1C0-CE44-4D79-8E20-ACF8D6908FA3}" destId="{0CCC77BA-F4E7-4B24-9BF0-77C2B9D65684}" srcOrd="1" destOrd="0" presId="urn:microsoft.com/office/officeart/2018/2/layout/IconVerticalSolidList"/>
    <dgm:cxn modelId="{98676A9A-154A-4B97-9140-4F5006C25BFE}" type="presParOf" srcId="{D407F1C0-CE44-4D79-8E20-ACF8D6908FA3}" destId="{5D9CF597-D576-40A5-BF01-98246C9BD934}" srcOrd="2" destOrd="0" presId="urn:microsoft.com/office/officeart/2018/2/layout/IconVerticalSolidList"/>
    <dgm:cxn modelId="{878F7BDF-5A99-4488-B591-2A6BEC2AC9ED}" type="presParOf" srcId="{D407F1C0-CE44-4D79-8E20-ACF8D6908FA3}" destId="{948D2593-E131-4BE1-BE2B-DE6653119606}" srcOrd="3" destOrd="0" presId="urn:microsoft.com/office/officeart/2018/2/layout/IconVerticalSolidList"/>
    <dgm:cxn modelId="{F43ADCB4-A769-4F28-9B93-927074B166FB}" type="presParOf" srcId="{C4A3BC75-62C2-49D9-9BA5-B0BB5EF9C119}" destId="{B5E2F648-BFDF-4AD2-B36A-D28E5A26DFAC}" srcOrd="3" destOrd="0" presId="urn:microsoft.com/office/officeart/2018/2/layout/IconVerticalSolidList"/>
    <dgm:cxn modelId="{229861A3-0395-4680-BB5C-D2DA6AFC6DD2}" type="presParOf" srcId="{C4A3BC75-62C2-49D9-9BA5-B0BB5EF9C119}" destId="{61345FAC-33E2-463E-A3EE-C583CDFD947C}" srcOrd="4" destOrd="0" presId="urn:microsoft.com/office/officeart/2018/2/layout/IconVerticalSolidList"/>
    <dgm:cxn modelId="{AC55FA41-D284-4697-BF3B-C518FA8FEFB5}" type="presParOf" srcId="{61345FAC-33E2-463E-A3EE-C583CDFD947C}" destId="{6E7E1E40-CF5C-4FEB-B148-105822489093}" srcOrd="0" destOrd="0" presId="urn:microsoft.com/office/officeart/2018/2/layout/IconVerticalSolidList"/>
    <dgm:cxn modelId="{8613BDA5-F31A-49F1-BB1C-18FFD7245DE3}" type="presParOf" srcId="{61345FAC-33E2-463E-A3EE-C583CDFD947C}" destId="{8FEB36A9-B97E-4834-976A-1156641BC579}" srcOrd="1" destOrd="0" presId="urn:microsoft.com/office/officeart/2018/2/layout/IconVerticalSolidList"/>
    <dgm:cxn modelId="{88B7F7EC-44A7-40B7-B3C8-3BD8529E35DF}" type="presParOf" srcId="{61345FAC-33E2-463E-A3EE-C583CDFD947C}" destId="{018C23B7-A958-4B0B-854F-39D504EA10F4}" srcOrd="2" destOrd="0" presId="urn:microsoft.com/office/officeart/2018/2/layout/IconVerticalSolidList"/>
    <dgm:cxn modelId="{5FFDA27C-9E2E-4514-8A05-079BB638E593}" type="presParOf" srcId="{61345FAC-33E2-463E-A3EE-C583CDFD947C}" destId="{AB8F56D1-5D15-439E-A6A5-D41A90C378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3146-38D1-4CEA-ACD8-02C95F2317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ED6A70-6EC8-49BF-8EB5-E62D4418F7BC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Evolutionary algorithm (EA) is a metaheuristic optimization algorithm. The idea is based/inspired on a biological evolution (reproduction, mutation, recombination and selection)</a:t>
          </a:r>
        </a:p>
      </dgm:t>
    </dgm:pt>
    <dgm:pt modelId="{E7513A07-C1B9-444D-BC99-FAD6CB875267}" type="parTrans" cxnId="{44CBCCA7-D4AA-4E71-AABF-BDAF5EDDE658}">
      <dgm:prSet/>
      <dgm:spPr/>
      <dgm:t>
        <a:bodyPr/>
        <a:lstStyle/>
        <a:p>
          <a:endParaRPr lang="en-US"/>
        </a:p>
      </dgm:t>
    </dgm:pt>
    <dgm:pt modelId="{FEF2ADE8-F7E1-476D-B5B5-2EBAFCE0ECDD}" type="sibTrans" cxnId="{44CBCCA7-D4AA-4E71-AABF-BDAF5EDDE658}">
      <dgm:prSet/>
      <dgm:spPr/>
      <dgm:t>
        <a:bodyPr/>
        <a:lstStyle/>
        <a:p>
          <a:endParaRPr lang="en-US"/>
        </a:p>
      </dgm:t>
    </dgm:pt>
    <dgm:pt modelId="{FF199004-90F9-490B-85B7-09A613765C6A}">
      <dgm:prSet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 b="1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Genetic</a:t>
          </a:r>
          <a:r>
            <a:rPr lang="pl-PL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b="1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algorithm</a:t>
          </a:r>
          <a:r>
            <a:rPr lang="pl-PL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(GA)</a:t>
          </a:r>
          <a:endParaRPr lang="en-US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0E65779-8BC7-4EBC-BA7E-FE7B43A6EB98}" type="parTrans" cxnId="{D4AAA373-800A-4FEE-8CDA-A866ED85472A}">
      <dgm:prSet/>
      <dgm:spPr/>
      <dgm:t>
        <a:bodyPr/>
        <a:lstStyle/>
        <a:p>
          <a:endParaRPr lang="en-US"/>
        </a:p>
      </dgm:t>
    </dgm:pt>
    <dgm:pt modelId="{D5321120-2866-4DB0-BEB7-D4246626CB42}" type="sibTrans" cxnId="{D4AAA373-800A-4FEE-8CDA-A866ED85472A}">
      <dgm:prSet/>
      <dgm:spPr/>
      <dgm:t>
        <a:bodyPr/>
        <a:lstStyle/>
        <a:p>
          <a:endParaRPr lang="en-US"/>
        </a:p>
      </dgm:t>
    </dgm:pt>
    <dgm:pt modelId="{68670239-5398-4A0A-AD6B-1DEAF17E12C6}">
      <dgm:prSet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Genetic</a:t>
          </a:r>
          <a:r>
            <a:rPr lang="pl-PL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programming</a:t>
          </a:r>
          <a:endParaRPr lang="en-US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91BCE5F-82C3-4AF5-A54E-57CA187E818A}" type="parTrans" cxnId="{8D9276E7-82DB-4C4A-A74F-7027526EE7EF}">
      <dgm:prSet/>
      <dgm:spPr/>
      <dgm:t>
        <a:bodyPr/>
        <a:lstStyle/>
        <a:p>
          <a:endParaRPr lang="en-US"/>
        </a:p>
      </dgm:t>
    </dgm:pt>
    <dgm:pt modelId="{05381927-7431-4EA2-AFC5-E631B9AD6874}" type="sibTrans" cxnId="{8D9276E7-82DB-4C4A-A74F-7027526EE7EF}">
      <dgm:prSet/>
      <dgm:spPr/>
      <dgm:t>
        <a:bodyPr/>
        <a:lstStyle/>
        <a:p>
          <a:endParaRPr lang="en-US"/>
        </a:p>
      </dgm:t>
    </dgm:pt>
    <dgm:pt modelId="{A55A5876-6D12-432C-BB01-41A52A95323D}">
      <dgm:prSet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Evolutionary</a:t>
          </a:r>
          <a:r>
            <a:rPr lang="pl-PL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programming</a:t>
          </a:r>
          <a:endParaRPr lang="en-US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8BDA042-3ED7-4555-B307-CE5B4185976F}" type="parTrans" cxnId="{B35A5992-5E17-4958-84AB-3EF7CDDC6D3D}">
      <dgm:prSet/>
      <dgm:spPr/>
      <dgm:t>
        <a:bodyPr/>
        <a:lstStyle/>
        <a:p>
          <a:endParaRPr lang="en-US"/>
        </a:p>
      </dgm:t>
    </dgm:pt>
    <dgm:pt modelId="{B512370F-923E-4A2A-B1BD-78E610433E86}" type="sibTrans" cxnId="{B35A5992-5E17-4958-84AB-3EF7CDDC6D3D}">
      <dgm:prSet/>
      <dgm:spPr/>
      <dgm:t>
        <a:bodyPr/>
        <a:lstStyle/>
        <a:p>
          <a:endParaRPr lang="en-US"/>
        </a:p>
      </dgm:t>
    </dgm:pt>
    <dgm:pt modelId="{E652B5E4-2DF5-4BF1-95FC-4BB304804051}">
      <dgm:prSet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Evolution</a:t>
          </a:r>
          <a:r>
            <a:rPr lang="pl-PL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strategy</a:t>
          </a:r>
          <a:endParaRPr lang="en-US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8C69628-DC0D-433B-A3BA-A680B70D8757}" type="parTrans" cxnId="{3DA12D47-7615-4754-9E49-4F267D512D3C}">
      <dgm:prSet/>
      <dgm:spPr/>
      <dgm:t>
        <a:bodyPr/>
        <a:lstStyle/>
        <a:p>
          <a:endParaRPr lang="en-US"/>
        </a:p>
      </dgm:t>
    </dgm:pt>
    <dgm:pt modelId="{AC52727E-D080-41C2-A129-41533A7889D3}" type="sibTrans" cxnId="{3DA12D47-7615-4754-9E49-4F267D512D3C}">
      <dgm:prSet/>
      <dgm:spPr/>
      <dgm:t>
        <a:bodyPr/>
        <a:lstStyle/>
        <a:p>
          <a:endParaRPr lang="en-US"/>
        </a:p>
      </dgm:t>
    </dgm:pt>
    <dgm:pt modelId="{0EC803C5-44D9-4830-804D-1DD4D05688F7}">
      <dgm:prSet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Differential evolution</a:t>
          </a:r>
          <a:endParaRPr lang="en-US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517592E-1B35-427F-961B-09C47A41D3E3}" type="parTrans" cxnId="{02762FB4-74CE-43F4-8A87-B0E4734AE240}">
      <dgm:prSet/>
      <dgm:spPr/>
      <dgm:t>
        <a:bodyPr/>
        <a:lstStyle/>
        <a:p>
          <a:endParaRPr lang="en-US"/>
        </a:p>
      </dgm:t>
    </dgm:pt>
    <dgm:pt modelId="{2D4B325D-0909-4A6A-9828-211403FA4152}" type="sibTrans" cxnId="{02762FB4-74CE-43F4-8A87-B0E4734AE240}">
      <dgm:prSet/>
      <dgm:spPr/>
      <dgm:t>
        <a:bodyPr/>
        <a:lstStyle/>
        <a:p>
          <a:endParaRPr lang="en-US"/>
        </a:p>
      </dgm:t>
    </dgm:pt>
    <dgm:pt modelId="{FA2F364E-43E0-4085-8FE5-91CBE5F90C8F}">
      <dgm:prSet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Neuroevolution</a:t>
          </a:r>
          <a:endParaRPr lang="en-US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8F7BCA3-8F43-426F-885C-BAB77CE34D0A}" type="parTrans" cxnId="{9032F101-D3BA-43A2-B2D5-6889907441B8}">
      <dgm:prSet/>
      <dgm:spPr/>
      <dgm:t>
        <a:bodyPr/>
        <a:lstStyle/>
        <a:p>
          <a:endParaRPr lang="en-US"/>
        </a:p>
      </dgm:t>
    </dgm:pt>
    <dgm:pt modelId="{83F4038B-0923-4D19-9846-B20709BBBA22}" type="sibTrans" cxnId="{9032F101-D3BA-43A2-B2D5-6889907441B8}">
      <dgm:prSet/>
      <dgm:spPr/>
      <dgm:t>
        <a:bodyPr/>
        <a:lstStyle/>
        <a:p>
          <a:endParaRPr lang="en-US"/>
        </a:p>
      </dgm:t>
    </dgm:pt>
    <dgm:pt modelId="{3AAF3C77-A0E3-40CD-B0A0-E097C23927A0}">
      <dgm:prSet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Learning </a:t>
          </a:r>
          <a:r>
            <a:rPr lang="pl-PL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classifier</a:t>
          </a:r>
          <a:r>
            <a:rPr lang="pl-PL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system </a:t>
          </a:r>
          <a:r>
            <a:rPr lang="pl-PL" baseline="30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[3</a:t>
          </a:r>
          <a:r>
            <a:rPr lang="pl-PL" baseline="30000" dirty="0"/>
            <a:t>]</a:t>
          </a:r>
          <a:endParaRPr lang="en-US" dirty="0"/>
        </a:p>
      </dgm:t>
    </dgm:pt>
    <dgm:pt modelId="{515CE0E2-416A-478B-BA8C-AEED0328C899}" type="parTrans" cxnId="{2D16D9D7-0AE3-4E71-AA8A-F2DAE7DCA136}">
      <dgm:prSet/>
      <dgm:spPr/>
      <dgm:t>
        <a:bodyPr/>
        <a:lstStyle/>
        <a:p>
          <a:endParaRPr lang="en-US"/>
        </a:p>
      </dgm:t>
    </dgm:pt>
    <dgm:pt modelId="{D2533385-F7DC-4234-BED1-B98BF64F553A}" type="sibTrans" cxnId="{2D16D9D7-0AE3-4E71-AA8A-F2DAE7DCA136}">
      <dgm:prSet/>
      <dgm:spPr/>
      <dgm:t>
        <a:bodyPr/>
        <a:lstStyle/>
        <a:p>
          <a:endParaRPr lang="en-US"/>
        </a:p>
      </dgm:t>
    </dgm:pt>
    <dgm:pt modelId="{E7002B51-E993-433B-8333-611E71324CF5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>
          <a:noFill/>
        </a:ln>
      </dgm:spPr>
      <dgm:t>
        <a:bodyPr/>
        <a:lstStyle/>
        <a:p>
          <a:r>
            <a:rPr lang="pl-PL" b="0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Types</a:t>
          </a:r>
          <a:r>
            <a:rPr lang="pl-PL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:</a:t>
          </a:r>
          <a:endParaRPr lang="en-US" b="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BEA8095-56A3-4B8B-83C6-F0F47BF89100}" type="sibTrans" cxnId="{55D8D737-70DE-4551-A631-78978F0A695D}">
      <dgm:prSet/>
      <dgm:spPr/>
      <dgm:t>
        <a:bodyPr/>
        <a:lstStyle/>
        <a:p>
          <a:endParaRPr lang="en-US"/>
        </a:p>
      </dgm:t>
    </dgm:pt>
    <dgm:pt modelId="{2EEF5ECB-8954-45FE-A55D-755ABEB8D107}" type="parTrans" cxnId="{55D8D737-70DE-4551-A631-78978F0A695D}">
      <dgm:prSet/>
      <dgm:spPr/>
      <dgm:t>
        <a:bodyPr/>
        <a:lstStyle/>
        <a:p>
          <a:endParaRPr lang="en-US"/>
        </a:p>
      </dgm:t>
    </dgm:pt>
    <dgm:pt modelId="{7207984D-B0DA-4042-A4BD-D97DBACB60CC}" type="pres">
      <dgm:prSet presAssocID="{B7ED3146-38D1-4CEA-ACD8-02C95F2317C1}" presName="linear" presStyleCnt="0">
        <dgm:presLayoutVars>
          <dgm:animLvl val="lvl"/>
          <dgm:resizeHandles val="exact"/>
        </dgm:presLayoutVars>
      </dgm:prSet>
      <dgm:spPr/>
    </dgm:pt>
    <dgm:pt modelId="{37C83CB8-72F2-4840-81AA-BFE6434B2AC1}" type="pres">
      <dgm:prSet presAssocID="{71ED6A70-6EC8-49BF-8EB5-E62D4418F7B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CBE2F3B-8F68-4EEE-A9FD-497380FFC1AD}" type="pres">
      <dgm:prSet presAssocID="{FEF2ADE8-F7E1-476D-B5B5-2EBAFCE0ECDD}" presName="spacer" presStyleCnt="0"/>
      <dgm:spPr/>
    </dgm:pt>
    <dgm:pt modelId="{4CAFE676-9A20-4FE5-A4B7-A924D70E04B0}" type="pres">
      <dgm:prSet presAssocID="{E7002B51-E993-433B-8333-611E71324CF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457C31C-B9C3-4EB9-A854-BB138C0A87EC}" type="pres">
      <dgm:prSet presAssocID="{E7002B51-E993-433B-8333-611E71324CF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032F101-D3BA-43A2-B2D5-6889907441B8}" srcId="{E7002B51-E993-433B-8333-611E71324CF5}" destId="{FA2F364E-43E0-4085-8FE5-91CBE5F90C8F}" srcOrd="5" destOrd="0" parTransId="{98F7BCA3-8F43-426F-885C-BAB77CE34D0A}" sibTransId="{83F4038B-0923-4D19-9846-B20709BBBA22}"/>
    <dgm:cxn modelId="{893C8921-ABD5-4B37-B215-004B783E8C09}" type="presOf" srcId="{71ED6A70-6EC8-49BF-8EB5-E62D4418F7BC}" destId="{37C83CB8-72F2-4840-81AA-BFE6434B2AC1}" srcOrd="0" destOrd="0" presId="urn:microsoft.com/office/officeart/2005/8/layout/vList2"/>
    <dgm:cxn modelId="{4E786127-AC1B-44A0-ADF9-2D14871B70E6}" type="presOf" srcId="{FA2F364E-43E0-4085-8FE5-91CBE5F90C8F}" destId="{C457C31C-B9C3-4EB9-A854-BB138C0A87EC}" srcOrd="0" destOrd="5" presId="urn:microsoft.com/office/officeart/2005/8/layout/vList2"/>
    <dgm:cxn modelId="{55D8D737-70DE-4551-A631-78978F0A695D}" srcId="{B7ED3146-38D1-4CEA-ACD8-02C95F2317C1}" destId="{E7002B51-E993-433B-8333-611E71324CF5}" srcOrd="1" destOrd="0" parTransId="{2EEF5ECB-8954-45FE-A55D-755ABEB8D107}" sibTransId="{5BEA8095-56A3-4B8B-83C6-F0F47BF89100}"/>
    <dgm:cxn modelId="{8154FC46-4677-454C-A478-650202FE6BEA}" type="presOf" srcId="{B7ED3146-38D1-4CEA-ACD8-02C95F2317C1}" destId="{7207984D-B0DA-4042-A4BD-D97DBACB60CC}" srcOrd="0" destOrd="0" presId="urn:microsoft.com/office/officeart/2005/8/layout/vList2"/>
    <dgm:cxn modelId="{3DA12D47-7615-4754-9E49-4F267D512D3C}" srcId="{E7002B51-E993-433B-8333-611E71324CF5}" destId="{E652B5E4-2DF5-4BF1-95FC-4BB304804051}" srcOrd="3" destOrd="0" parTransId="{A8C69628-DC0D-433B-A3BA-A680B70D8757}" sibTransId="{AC52727E-D080-41C2-A129-41533A7889D3}"/>
    <dgm:cxn modelId="{55A3BF70-B4FA-4232-8806-03F824712AEB}" type="presOf" srcId="{A55A5876-6D12-432C-BB01-41A52A95323D}" destId="{C457C31C-B9C3-4EB9-A854-BB138C0A87EC}" srcOrd="0" destOrd="2" presId="urn:microsoft.com/office/officeart/2005/8/layout/vList2"/>
    <dgm:cxn modelId="{D4AAA373-800A-4FEE-8CDA-A866ED85472A}" srcId="{E7002B51-E993-433B-8333-611E71324CF5}" destId="{FF199004-90F9-490B-85B7-09A613765C6A}" srcOrd="0" destOrd="0" parTransId="{F0E65779-8BC7-4EBC-BA7E-FE7B43A6EB98}" sibTransId="{D5321120-2866-4DB0-BEB7-D4246626CB42}"/>
    <dgm:cxn modelId="{B3EA2478-1976-418C-BEDF-C5CC30D263DC}" type="presOf" srcId="{E652B5E4-2DF5-4BF1-95FC-4BB304804051}" destId="{C457C31C-B9C3-4EB9-A854-BB138C0A87EC}" srcOrd="0" destOrd="3" presId="urn:microsoft.com/office/officeart/2005/8/layout/vList2"/>
    <dgm:cxn modelId="{6AF4EE82-D4DB-4273-A1E7-E01C6ECA4115}" type="presOf" srcId="{3AAF3C77-A0E3-40CD-B0A0-E097C23927A0}" destId="{C457C31C-B9C3-4EB9-A854-BB138C0A87EC}" srcOrd="0" destOrd="6" presId="urn:microsoft.com/office/officeart/2005/8/layout/vList2"/>
    <dgm:cxn modelId="{B35A5992-5E17-4958-84AB-3EF7CDDC6D3D}" srcId="{E7002B51-E993-433B-8333-611E71324CF5}" destId="{A55A5876-6D12-432C-BB01-41A52A95323D}" srcOrd="2" destOrd="0" parTransId="{B8BDA042-3ED7-4555-B307-CE5B4185976F}" sibTransId="{B512370F-923E-4A2A-B1BD-78E610433E86}"/>
    <dgm:cxn modelId="{CD221FA4-B2A6-4B33-AEDB-2C1F231EA8E8}" type="presOf" srcId="{E7002B51-E993-433B-8333-611E71324CF5}" destId="{4CAFE676-9A20-4FE5-A4B7-A924D70E04B0}" srcOrd="0" destOrd="0" presId="urn:microsoft.com/office/officeart/2005/8/layout/vList2"/>
    <dgm:cxn modelId="{44CBCCA7-D4AA-4E71-AABF-BDAF5EDDE658}" srcId="{B7ED3146-38D1-4CEA-ACD8-02C95F2317C1}" destId="{71ED6A70-6EC8-49BF-8EB5-E62D4418F7BC}" srcOrd="0" destOrd="0" parTransId="{E7513A07-C1B9-444D-BC99-FAD6CB875267}" sibTransId="{FEF2ADE8-F7E1-476D-B5B5-2EBAFCE0ECDD}"/>
    <dgm:cxn modelId="{02762FB4-74CE-43F4-8A87-B0E4734AE240}" srcId="{E7002B51-E993-433B-8333-611E71324CF5}" destId="{0EC803C5-44D9-4830-804D-1DD4D05688F7}" srcOrd="4" destOrd="0" parTransId="{B517592E-1B35-427F-961B-09C47A41D3E3}" sibTransId="{2D4B325D-0909-4A6A-9828-211403FA4152}"/>
    <dgm:cxn modelId="{2D16D9D7-0AE3-4E71-AA8A-F2DAE7DCA136}" srcId="{E7002B51-E993-433B-8333-611E71324CF5}" destId="{3AAF3C77-A0E3-40CD-B0A0-E097C23927A0}" srcOrd="6" destOrd="0" parTransId="{515CE0E2-416A-478B-BA8C-AEED0328C899}" sibTransId="{D2533385-F7DC-4234-BED1-B98BF64F553A}"/>
    <dgm:cxn modelId="{BCE22BDE-DA9E-4436-ABEF-814077C54E1B}" type="presOf" srcId="{FF199004-90F9-490B-85B7-09A613765C6A}" destId="{C457C31C-B9C3-4EB9-A854-BB138C0A87EC}" srcOrd="0" destOrd="0" presId="urn:microsoft.com/office/officeart/2005/8/layout/vList2"/>
    <dgm:cxn modelId="{8CF71CE2-FAC7-4579-9114-DDC601CC665B}" type="presOf" srcId="{0EC803C5-44D9-4830-804D-1DD4D05688F7}" destId="{C457C31C-B9C3-4EB9-A854-BB138C0A87EC}" srcOrd="0" destOrd="4" presId="urn:microsoft.com/office/officeart/2005/8/layout/vList2"/>
    <dgm:cxn modelId="{8D9276E7-82DB-4C4A-A74F-7027526EE7EF}" srcId="{E7002B51-E993-433B-8333-611E71324CF5}" destId="{68670239-5398-4A0A-AD6B-1DEAF17E12C6}" srcOrd="1" destOrd="0" parTransId="{E91BCE5F-82C3-4AF5-A54E-57CA187E818A}" sibTransId="{05381927-7431-4EA2-AFC5-E631B9AD6874}"/>
    <dgm:cxn modelId="{993FB6EE-0F5D-4444-A2A0-513EA1A51123}" type="presOf" srcId="{68670239-5398-4A0A-AD6B-1DEAF17E12C6}" destId="{C457C31C-B9C3-4EB9-A854-BB138C0A87EC}" srcOrd="0" destOrd="1" presId="urn:microsoft.com/office/officeart/2005/8/layout/vList2"/>
    <dgm:cxn modelId="{9C288B62-7C35-4516-BB2A-B51FD2F8F50C}" type="presParOf" srcId="{7207984D-B0DA-4042-A4BD-D97DBACB60CC}" destId="{37C83CB8-72F2-4840-81AA-BFE6434B2AC1}" srcOrd="0" destOrd="0" presId="urn:microsoft.com/office/officeart/2005/8/layout/vList2"/>
    <dgm:cxn modelId="{4F04B6AB-FF8D-429B-8AF1-5BAD8D2C050A}" type="presParOf" srcId="{7207984D-B0DA-4042-A4BD-D97DBACB60CC}" destId="{3CBE2F3B-8F68-4EEE-A9FD-497380FFC1AD}" srcOrd="1" destOrd="0" presId="urn:microsoft.com/office/officeart/2005/8/layout/vList2"/>
    <dgm:cxn modelId="{9FF5DE61-D7B4-4AD0-A2B2-FAC4DCF95DD4}" type="presParOf" srcId="{7207984D-B0DA-4042-A4BD-D97DBACB60CC}" destId="{4CAFE676-9A20-4FE5-A4B7-A924D70E04B0}" srcOrd="2" destOrd="0" presId="urn:microsoft.com/office/officeart/2005/8/layout/vList2"/>
    <dgm:cxn modelId="{28629C66-9B3F-48DA-B017-57A973321166}" type="presParOf" srcId="{7207984D-B0DA-4042-A4BD-D97DBACB60CC}" destId="{C457C31C-B9C3-4EB9-A854-BB138C0A87E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CC509C-F4EB-477E-9898-8B100206BFA3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DA258B6-4D89-49D4-A71B-A5E48D7E0F1D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>
        <a:solidFill>
          <a:srgbClr val="629DD1"/>
        </a:solidFill>
      </dgm:spPr>
      <dgm:t>
        <a:bodyPr/>
        <a:lstStyle/>
        <a:p>
          <a:r>
            <a:rPr lang="pl-PL"/>
            <a:t>Initial population</a:t>
          </a:r>
          <a:endParaRPr lang="en-US"/>
        </a:p>
      </dgm:t>
    </dgm:pt>
    <dgm:pt modelId="{32A0204D-39F1-4F5B-B1EC-DB08518E7E98}" type="parTrans" cxnId="{1CEE6D7A-9E54-4E20-B3F9-D4C173536979}">
      <dgm:prSet/>
      <dgm:spPr/>
      <dgm:t>
        <a:bodyPr/>
        <a:lstStyle/>
        <a:p>
          <a:endParaRPr lang="en-US"/>
        </a:p>
      </dgm:t>
    </dgm:pt>
    <dgm:pt modelId="{E27E7271-EAD8-423F-AAC6-274BE8DD5AC8}" type="sibTrans" cxnId="{1CEE6D7A-9E54-4E20-B3F9-D4C173536979}">
      <dgm:prSet/>
      <dgm:spPr/>
      <dgm:t>
        <a:bodyPr/>
        <a:lstStyle/>
        <a:p>
          <a:endParaRPr lang="en-US"/>
        </a:p>
      </dgm:t>
    </dgm:pt>
    <dgm:pt modelId="{6B23A47D-1C68-4EE5-9111-3E488E35AEF6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>
        <a:solidFill>
          <a:srgbClr val="629DD1"/>
        </a:solidFill>
      </dgm:spPr>
      <dgm:t>
        <a:bodyPr/>
        <a:lstStyle/>
        <a:p>
          <a:r>
            <a:rPr lang="pl-PL"/>
            <a:t>Chromosome (also Genotype)</a:t>
          </a:r>
          <a:endParaRPr lang="en-US"/>
        </a:p>
      </dgm:t>
    </dgm:pt>
    <dgm:pt modelId="{568F3879-6CC1-4BC3-A37B-B00980E88E65}" type="parTrans" cxnId="{2E036ED6-A880-439A-9A82-F15EDCF2670A}">
      <dgm:prSet/>
      <dgm:spPr/>
      <dgm:t>
        <a:bodyPr/>
        <a:lstStyle/>
        <a:p>
          <a:endParaRPr lang="en-US"/>
        </a:p>
      </dgm:t>
    </dgm:pt>
    <dgm:pt modelId="{927CA7CC-B7FE-4938-A6EA-0C6E14BEB013}" type="sibTrans" cxnId="{2E036ED6-A880-439A-9A82-F15EDCF2670A}">
      <dgm:prSet/>
      <dgm:spPr/>
      <dgm:t>
        <a:bodyPr/>
        <a:lstStyle/>
        <a:p>
          <a:endParaRPr lang="en-US"/>
        </a:p>
      </dgm:t>
    </dgm:pt>
    <dgm:pt modelId="{25693AC0-379E-4BEA-83ED-17836A7D8C9E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>
        <a:solidFill>
          <a:srgbClr val="629DD1"/>
        </a:solidFill>
      </dgm:spPr>
      <dgm:t>
        <a:bodyPr/>
        <a:lstStyle/>
        <a:p>
          <a:r>
            <a:rPr lang="pl-PL"/>
            <a:t>Fitness function</a:t>
          </a:r>
          <a:endParaRPr lang="en-US"/>
        </a:p>
      </dgm:t>
    </dgm:pt>
    <dgm:pt modelId="{31AAAFEE-769E-4E05-830D-D29D4F5B4510}" type="parTrans" cxnId="{DE6D8E99-9DE2-43F4-9D92-4DF8590B3418}">
      <dgm:prSet/>
      <dgm:spPr/>
      <dgm:t>
        <a:bodyPr/>
        <a:lstStyle/>
        <a:p>
          <a:endParaRPr lang="en-US"/>
        </a:p>
      </dgm:t>
    </dgm:pt>
    <dgm:pt modelId="{2ECCA90A-1049-43D0-A189-72777812FF14}" type="sibTrans" cxnId="{DE6D8E99-9DE2-43F4-9D92-4DF8590B3418}">
      <dgm:prSet/>
      <dgm:spPr/>
      <dgm:t>
        <a:bodyPr/>
        <a:lstStyle/>
        <a:p>
          <a:endParaRPr lang="en-US"/>
        </a:p>
      </dgm:t>
    </dgm:pt>
    <dgm:pt modelId="{990F231C-58BE-4E98-B0C3-1A52B5848F4E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>
        <a:solidFill>
          <a:srgbClr val="629DD1"/>
        </a:solidFill>
      </dgm:spPr>
      <dgm:t>
        <a:bodyPr/>
        <a:lstStyle/>
        <a:p>
          <a:r>
            <a:rPr lang="pl-PL"/>
            <a:t>Genetic operators: selection, crossover, mutation</a:t>
          </a:r>
          <a:endParaRPr lang="en-US"/>
        </a:p>
      </dgm:t>
    </dgm:pt>
    <dgm:pt modelId="{52FAA6C2-5DBA-4367-9697-B7322872A18C}" type="parTrans" cxnId="{D635DF44-93C6-48C4-9E8A-486287E9E837}">
      <dgm:prSet/>
      <dgm:spPr/>
      <dgm:t>
        <a:bodyPr/>
        <a:lstStyle/>
        <a:p>
          <a:endParaRPr lang="en-US"/>
        </a:p>
      </dgm:t>
    </dgm:pt>
    <dgm:pt modelId="{0FF38656-49A2-48D9-B7D4-64F79E20C146}" type="sibTrans" cxnId="{D635DF44-93C6-48C4-9E8A-486287E9E837}">
      <dgm:prSet/>
      <dgm:spPr/>
      <dgm:t>
        <a:bodyPr/>
        <a:lstStyle/>
        <a:p>
          <a:endParaRPr lang="en-US"/>
        </a:p>
      </dgm:t>
    </dgm:pt>
    <dgm:pt modelId="{4FC1992A-E49F-406E-974A-52EA78E1BB99}">
      <dgm:prSet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>
        <a:solidFill>
          <a:srgbClr val="629DD1"/>
        </a:solidFill>
      </dgm:spPr>
      <dgm:t>
        <a:bodyPr/>
        <a:lstStyle/>
        <a:p>
          <a:r>
            <a:rPr lang="pl-PL" dirty="0" err="1"/>
            <a:t>Generations</a:t>
          </a:r>
          <a:r>
            <a:rPr lang="pl-PL" dirty="0"/>
            <a:t> and End </a:t>
          </a:r>
          <a:r>
            <a:rPr lang="pl-PL" dirty="0" err="1"/>
            <a:t>evolution</a:t>
          </a:r>
          <a:endParaRPr lang="en-US" dirty="0"/>
        </a:p>
      </dgm:t>
    </dgm:pt>
    <dgm:pt modelId="{531764EB-3DAC-4BA4-9DD6-0B918C9BDDE7}" type="parTrans" cxnId="{9C27DBD9-8ACF-4540-84C2-3442E18EC9D7}">
      <dgm:prSet/>
      <dgm:spPr/>
      <dgm:t>
        <a:bodyPr/>
        <a:lstStyle/>
        <a:p>
          <a:endParaRPr lang="en-US"/>
        </a:p>
      </dgm:t>
    </dgm:pt>
    <dgm:pt modelId="{AF85A9AD-17BD-4176-9957-1DB27A6FA33B}" type="sibTrans" cxnId="{9C27DBD9-8ACF-4540-84C2-3442E18EC9D7}">
      <dgm:prSet/>
      <dgm:spPr/>
      <dgm:t>
        <a:bodyPr/>
        <a:lstStyle/>
        <a:p>
          <a:endParaRPr lang="en-US"/>
        </a:p>
      </dgm:t>
    </dgm:pt>
    <dgm:pt modelId="{186F4C70-12AF-4980-A160-46E32BF01F06}" type="pres">
      <dgm:prSet presAssocID="{8FCC509C-F4EB-477E-9898-8B100206BFA3}" presName="linear" presStyleCnt="0">
        <dgm:presLayoutVars>
          <dgm:dir/>
          <dgm:animLvl val="lvl"/>
          <dgm:resizeHandles val="exact"/>
        </dgm:presLayoutVars>
      </dgm:prSet>
      <dgm:spPr/>
    </dgm:pt>
    <dgm:pt modelId="{4C8BB1A6-0286-4CF4-873D-C7D3C6E98DBA}" type="pres">
      <dgm:prSet presAssocID="{9DA258B6-4D89-49D4-A71B-A5E48D7E0F1D}" presName="parentLin" presStyleCnt="0"/>
      <dgm:spPr/>
    </dgm:pt>
    <dgm:pt modelId="{F2CE8AD2-5CAA-41E4-8045-7145A5AED8D2}" type="pres">
      <dgm:prSet presAssocID="{9DA258B6-4D89-49D4-A71B-A5E48D7E0F1D}" presName="parentLeftMargin" presStyleLbl="node1" presStyleIdx="0" presStyleCnt="5"/>
      <dgm:spPr/>
    </dgm:pt>
    <dgm:pt modelId="{AE206DC9-3E66-4FEF-8619-85F5722091A5}" type="pres">
      <dgm:prSet presAssocID="{9DA258B6-4D89-49D4-A71B-A5E48D7E0F1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9842FAD-5B5B-4989-88B1-161574F93B70}" type="pres">
      <dgm:prSet presAssocID="{9DA258B6-4D89-49D4-A71B-A5E48D7E0F1D}" presName="negativeSpace" presStyleCnt="0"/>
      <dgm:spPr/>
    </dgm:pt>
    <dgm:pt modelId="{4F7BB4E4-7047-4EE4-8816-7C88DC7695B0}" type="pres">
      <dgm:prSet presAssocID="{9DA258B6-4D89-49D4-A71B-A5E48D7E0F1D}" presName="childText" presStyleLbl="conFgAcc1" presStyleIdx="0" presStyleCnt="5">
        <dgm:presLayoutVars>
          <dgm:bulletEnabled val="1"/>
        </dgm:presLayoutVars>
      </dgm:prSet>
      <dgm:spPr>
        <a:solidFill>
          <a:srgbClr val="B8BFC9"/>
        </a:solidFill>
      </dgm:spPr>
    </dgm:pt>
    <dgm:pt modelId="{980490CC-646B-403D-8B4C-51FBA4E067EF}" type="pres">
      <dgm:prSet presAssocID="{E27E7271-EAD8-423F-AAC6-274BE8DD5AC8}" presName="spaceBetweenRectangles" presStyleCnt="0"/>
      <dgm:spPr/>
    </dgm:pt>
    <dgm:pt modelId="{405D53C4-08CB-4A0A-B7AC-50C40D2DF01B}" type="pres">
      <dgm:prSet presAssocID="{6B23A47D-1C68-4EE5-9111-3E488E35AEF6}" presName="parentLin" presStyleCnt="0"/>
      <dgm:spPr/>
    </dgm:pt>
    <dgm:pt modelId="{3A2888D7-6BF2-4CBF-B03C-E583A093B977}" type="pres">
      <dgm:prSet presAssocID="{6B23A47D-1C68-4EE5-9111-3E488E35AEF6}" presName="parentLeftMargin" presStyleLbl="node1" presStyleIdx="0" presStyleCnt="5"/>
      <dgm:spPr/>
    </dgm:pt>
    <dgm:pt modelId="{D5826538-8C84-408C-88C0-5E3D6D9F56F7}" type="pres">
      <dgm:prSet presAssocID="{6B23A47D-1C68-4EE5-9111-3E488E35AEF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68A9C0C-D365-418A-9CB0-4144ECA6E413}" type="pres">
      <dgm:prSet presAssocID="{6B23A47D-1C68-4EE5-9111-3E488E35AEF6}" presName="negativeSpace" presStyleCnt="0"/>
      <dgm:spPr/>
    </dgm:pt>
    <dgm:pt modelId="{F9641E33-24B6-4930-8F45-E903814550F5}" type="pres">
      <dgm:prSet presAssocID="{6B23A47D-1C68-4EE5-9111-3E488E35AEF6}" presName="childText" presStyleLbl="conFgAcc1" presStyleIdx="1" presStyleCnt="5">
        <dgm:presLayoutVars>
          <dgm:bulletEnabled val="1"/>
        </dgm:presLayoutVars>
      </dgm:prSet>
      <dgm:spPr>
        <a:solidFill>
          <a:srgbClr val="B8BFC9"/>
        </a:solidFill>
      </dgm:spPr>
    </dgm:pt>
    <dgm:pt modelId="{ED87F08F-CC9E-4732-B767-B3302B8ED9DF}" type="pres">
      <dgm:prSet presAssocID="{927CA7CC-B7FE-4938-A6EA-0C6E14BEB013}" presName="spaceBetweenRectangles" presStyleCnt="0"/>
      <dgm:spPr/>
    </dgm:pt>
    <dgm:pt modelId="{6059C318-B1E4-4885-905F-965BF1AF2E8E}" type="pres">
      <dgm:prSet presAssocID="{25693AC0-379E-4BEA-83ED-17836A7D8C9E}" presName="parentLin" presStyleCnt="0"/>
      <dgm:spPr/>
    </dgm:pt>
    <dgm:pt modelId="{EA9CCAD7-A615-4C2E-9E7D-30C8B42A3456}" type="pres">
      <dgm:prSet presAssocID="{25693AC0-379E-4BEA-83ED-17836A7D8C9E}" presName="parentLeftMargin" presStyleLbl="node1" presStyleIdx="1" presStyleCnt="5"/>
      <dgm:spPr/>
    </dgm:pt>
    <dgm:pt modelId="{3930B16F-6DEF-499E-9F4E-EB61F7573E45}" type="pres">
      <dgm:prSet presAssocID="{25693AC0-379E-4BEA-83ED-17836A7D8C9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171F65A-B46E-49BD-95FB-B295A3B736A5}" type="pres">
      <dgm:prSet presAssocID="{25693AC0-379E-4BEA-83ED-17836A7D8C9E}" presName="negativeSpace" presStyleCnt="0"/>
      <dgm:spPr/>
    </dgm:pt>
    <dgm:pt modelId="{1E5E2E5B-5F3A-477A-A564-828B15DC2AF4}" type="pres">
      <dgm:prSet presAssocID="{25693AC0-379E-4BEA-83ED-17836A7D8C9E}" presName="childText" presStyleLbl="conFgAcc1" presStyleIdx="2" presStyleCnt="5">
        <dgm:presLayoutVars>
          <dgm:bulletEnabled val="1"/>
        </dgm:presLayoutVars>
      </dgm:prSet>
      <dgm:spPr>
        <a:solidFill>
          <a:srgbClr val="B8BFC9"/>
        </a:solidFill>
      </dgm:spPr>
    </dgm:pt>
    <dgm:pt modelId="{4B1A4A6F-E5CD-435B-A795-EE7448DC40E0}" type="pres">
      <dgm:prSet presAssocID="{2ECCA90A-1049-43D0-A189-72777812FF14}" presName="spaceBetweenRectangles" presStyleCnt="0"/>
      <dgm:spPr/>
    </dgm:pt>
    <dgm:pt modelId="{A06DF3B4-B3A1-41EA-B73D-394407741402}" type="pres">
      <dgm:prSet presAssocID="{990F231C-58BE-4E98-B0C3-1A52B5848F4E}" presName="parentLin" presStyleCnt="0"/>
      <dgm:spPr/>
    </dgm:pt>
    <dgm:pt modelId="{5D51B2A2-009E-4BF0-8D3C-FE812E3918D9}" type="pres">
      <dgm:prSet presAssocID="{990F231C-58BE-4E98-B0C3-1A52B5848F4E}" presName="parentLeftMargin" presStyleLbl="node1" presStyleIdx="2" presStyleCnt="5"/>
      <dgm:spPr/>
    </dgm:pt>
    <dgm:pt modelId="{9D3A0D6F-39DA-44B8-B82C-7762172884C2}" type="pres">
      <dgm:prSet presAssocID="{990F231C-58BE-4E98-B0C3-1A52B5848F4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A4B7D91-BAC2-4C82-8AF8-9CCAB64BE029}" type="pres">
      <dgm:prSet presAssocID="{990F231C-58BE-4E98-B0C3-1A52B5848F4E}" presName="negativeSpace" presStyleCnt="0"/>
      <dgm:spPr/>
    </dgm:pt>
    <dgm:pt modelId="{ABE09FAA-EB9A-4B29-A5E1-786378BD5275}" type="pres">
      <dgm:prSet presAssocID="{990F231C-58BE-4E98-B0C3-1A52B5848F4E}" presName="childText" presStyleLbl="conFgAcc1" presStyleIdx="3" presStyleCnt="5">
        <dgm:presLayoutVars>
          <dgm:bulletEnabled val="1"/>
        </dgm:presLayoutVars>
      </dgm:prSet>
      <dgm:spPr>
        <a:solidFill>
          <a:srgbClr val="B8BFC9"/>
        </a:solidFill>
      </dgm:spPr>
    </dgm:pt>
    <dgm:pt modelId="{E189E9BD-CDF1-4CC1-AC77-D17099FAA132}" type="pres">
      <dgm:prSet presAssocID="{0FF38656-49A2-48D9-B7D4-64F79E20C146}" presName="spaceBetweenRectangles" presStyleCnt="0"/>
      <dgm:spPr/>
    </dgm:pt>
    <dgm:pt modelId="{CA1D9B21-4765-4CD1-962B-04507003E8DB}" type="pres">
      <dgm:prSet presAssocID="{4FC1992A-E49F-406E-974A-52EA78E1BB99}" presName="parentLin" presStyleCnt="0"/>
      <dgm:spPr/>
    </dgm:pt>
    <dgm:pt modelId="{39C0D041-AA51-48C7-B3AD-7A3A00255D95}" type="pres">
      <dgm:prSet presAssocID="{4FC1992A-E49F-406E-974A-52EA78E1BB99}" presName="parentLeftMargin" presStyleLbl="node1" presStyleIdx="3" presStyleCnt="5"/>
      <dgm:spPr/>
    </dgm:pt>
    <dgm:pt modelId="{D14761D8-4EA9-462F-B81B-4ABFBD0DF675}" type="pres">
      <dgm:prSet presAssocID="{4FC1992A-E49F-406E-974A-52EA78E1BB9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6C849CA-A495-4247-90EF-027FF7C7D341}" type="pres">
      <dgm:prSet presAssocID="{4FC1992A-E49F-406E-974A-52EA78E1BB99}" presName="negativeSpace" presStyleCnt="0"/>
      <dgm:spPr/>
    </dgm:pt>
    <dgm:pt modelId="{B6DDA813-4885-4778-963A-0D4CED69D2B6}" type="pres">
      <dgm:prSet presAssocID="{4FC1992A-E49F-406E-974A-52EA78E1BB99}" presName="childText" presStyleLbl="conFgAcc1" presStyleIdx="4" presStyleCnt="5">
        <dgm:presLayoutVars>
          <dgm:bulletEnabled val="1"/>
        </dgm:presLayoutVars>
      </dgm:prSet>
      <dgm:spPr>
        <a:solidFill>
          <a:srgbClr val="B8BFC9"/>
        </a:solidFill>
      </dgm:spPr>
    </dgm:pt>
  </dgm:ptLst>
  <dgm:cxnLst>
    <dgm:cxn modelId="{C24E840A-7037-4F80-8E80-A76DE9A7CF14}" type="presOf" srcId="{4FC1992A-E49F-406E-974A-52EA78E1BB99}" destId="{D14761D8-4EA9-462F-B81B-4ABFBD0DF675}" srcOrd="1" destOrd="0" presId="urn:microsoft.com/office/officeart/2005/8/layout/list1"/>
    <dgm:cxn modelId="{23773B10-5EF1-4715-B513-2707A9BC23A7}" type="presOf" srcId="{25693AC0-379E-4BEA-83ED-17836A7D8C9E}" destId="{EA9CCAD7-A615-4C2E-9E7D-30C8B42A3456}" srcOrd="0" destOrd="0" presId="urn:microsoft.com/office/officeart/2005/8/layout/list1"/>
    <dgm:cxn modelId="{EB057031-49A2-481A-B5D4-1B6369B9FD42}" type="presOf" srcId="{990F231C-58BE-4E98-B0C3-1A52B5848F4E}" destId="{9D3A0D6F-39DA-44B8-B82C-7762172884C2}" srcOrd="1" destOrd="0" presId="urn:microsoft.com/office/officeart/2005/8/layout/list1"/>
    <dgm:cxn modelId="{D635DF44-93C6-48C4-9E8A-486287E9E837}" srcId="{8FCC509C-F4EB-477E-9898-8B100206BFA3}" destId="{990F231C-58BE-4E98-B0C3-1A52B5848F4E}" srcOrd="3" destOrd="0" parTransId="{52FAA6C2-5DBA-4367-9697-B7322872A18C}" sibTransId="{0FF38656-49A2-48D9-B7D4-64F79E20C146}"/>
    <dgm:cxn modelId="{04D33155-DEBA-4BD7-ABD8-40C7998A8659}" type="presOf" srcId="{9DA258B6-4D89-49D4-A71B-A5E48D7E0F1D}" destId="{AE206DC9-3E66-4FEF-8619-85F5722091A5}" srcOrd="1" destOrd="0" presId="urn:microsoft.com/office/officeart/2005/8/layout/list1"/>
    <dgm:cxn modelId="{1CEE6D7A-9E54-4E20-B3F9-D4C173536979}" srcId="{8FCC509C-F4EB-477E-9898-8B100206BFA3}" destId="{9DA258B6-4D89-49D4-A71B-A5E48D7E0F1D}" srcOrd="0" destOrd="0" parTransId="{32A0204D-39F1-4F5B-B1EC-DB08518E7E98}" sibTransId="{E27E7271-EAD8-423F-AAC6-274BE8DD5AC8}"/>
    <dgm:cxn modelId="{DE6D8E99-9DE2-43F4-9D92-4DF8590B3418}" srcId="{8FCC509C-F4EB-477E-9898-8B100206BFA3}" destId="{25693AC0-379E-4BEA-83ED-17836A7D8C9E}" srcOrd="2" destOrd="0" parTransId="{31AAAFEE-769E-4E05-830D-D29D4F5B4510}" sibTransId="{2ECCA90A-1049-43D0-A189-72777812FF14}"/>
    <dgm:cxn modelId="{5D71B199-49F0-4944-A262-E4D9DFA3CA1E}" type="presOf" srcId="{4FC1992A-E49F-406E-974A-52EA78E1BB99}" destId="{39C0D041-AA51-48C7-B3AD-7A3A00255D95}" srcOrd="0" destOrd="0" presId="urn:microsoft.com/office/officeart/2005/8/layout/list1"/>
    <dgm:cxn modelId="{4AAE7CAF-7F2D-4473-810A-ACC1A6D20C38}" type="presOf" srcId="{6B23A47D-1C68-4EE5-9111-3E488E35AEF6}" destId="{3A2888D7-6BF2-4CBF-B03C-E583A093B977}" srcOrd="0" destOrd="0" presId="urn:microsoft.com/office/officeart/2005/8/layout/list1"/>
    <dgm:cxn modelId="{02A5EDB0-7197-4227-9372-2A6DDD79316A}" type="presOf" srcId="{9DA258B6-4D89-49D4-A71B-A5E48D7E0F1D}" destId="{F2CE8AD2-5CAA-41E4-8045-7145A5AED8D2}" srcOrd="0" destOrd="0" presId="urn:microsoft.com/office/officeart/2005/8/layout/list1"/>
    <dgm:cxn modelId="{046687B6-A7F6-4167-9965-D38448EC7B30}" type="presOf" srcId="{6B23A47D-1C68-4EE5-9111-3E488E35AEF6}" destId="{D5826538-8C84-408C-88C0-5E3D6D9F56F7}" srcOrd="1" destOrd="0" presId="urn:microsoft.com/office/officeart/2005/8/layout/list1"/>
    <dgm:cxn modelId="{2E036ED6-A880-439A-9A82-F15EDCF2670A}" srcId="{8FCC509C-F4EB-477E-9898-8B100206BFA3}" destId="{6B23A47D-1C68-4EE5-9111-3E488E35AEF6}" srcOrd="1" destOrd="0" parTransId="{568F3879-6CC1-4BC3-A37B-B00980E88E65}" sibTransId="{927CA7CC-B7FE-4938-A6EA-0C6E14BEB013}"/>
    <dgm:cxn modelId="{9C27DBD9-8ACF-4540-84C2-3442E18EC9D7}" srcId="{8FCC509C-F4EB-477E-9898-8B100206BFA3}" destId="{4FC1992A-E49F-406E-974A-52EA78E1BB99}" srcOrd="4" destOrd="0" parTransId="{531764EB-3DAC-4BA4-9DD6-0B918C9BDDE7}" sibTransId="{AF85A9AD-17BD-4176-9957-1DB27A6FA33B}"/>
    <dgm:cxn modelId="{61A881DD-74CA-4B63-A9A0-D28C50F5797F}" type="presOf" srcId="{8FCC509C-F4EB-477E-9898-8B100206BFA3}" destId="{186F4C70-12AF-4980-A160-46E32BF01F06}" srcOrd="0" destOrd="0" presId="urn:microsoft.com/office/officeart/2005/8/layout/list1"/>
    <dgm:cxn modelId="{2B8AE8E3-FF0C-4A84-8AA7-3C5BA36325AA}" type="presOf" srcId="{990F231C-58BE-4E98-B0C3-1A52B5848F4E}" destId="{5D51B2A2-009E-4BF0-8D3C-FE812E3918D9}" srcOrd="0" destOrd="0" presId="urn:microsoft.com/office/officeart/2005/8/layout/list1"/>
    <dgm:cxn modelId="{2ACCDAF3-6775-49E8-B7A7-9AF8DB39D68D}" type="presOf" srcId="{25693AC0-379E-4BEA-83ED-17836A7D8C9E}" destId="{3930B16F-6DEF-499E-9F4E-EB61F7573E45}" srcOrd="1" destOrd="0" presId="urn:microsoft.com/office/officeart/2005/8/layout/list1"/>
    <dgm:cxn modelId="{A00EB052-F407-4E51-923A-29C2516E8BF3}" type="presParOf" srcId="{186F4C70-12AF-4980-A160-46E32BF01F06}" destId="{4C8BB1A6-0286-4CF4-873D-C7D3C6E98DBA}" srcOrd="0" destOrd="0" presId="urn:microsoft.com/office/officeart/2005/8/layout/list1"/>
    <dgm:cxn modelId="{5F099688-BC62-42D0-8733-9FB865719223}" type="presParOf" srcId="{4C8BB1A6-0286-4CF4-873D-C7D3C6E98DBA}" destId="{F2CE8AD2-5CAA-41E4-8045-7145A5AED8D2}" srcOrd="0" destOrd="0" presId="urn:microsoft.com/office/officeart/2005/8/layout/list1"/>
    <dgm:cxn modelId="{5A0E80AD-6F06-46DB-B794-DBB24BD96C4B}" type="presParOf" srcId="{4C8BB1A6-0286-4CF4-873D-C7D3C6E98DBA}" destId="{AE206DC9-3E66-4FEF-8619-85F5722091A5}" srcOrd="1" destOrd="0" presId="urn:microsoft.com/office/officeart/2005/8/layout/list1"/>
    <dgm:cxn modelId="{EC9F6D00-7E41-4F0A-8AC5-C3D67A633106}" type="presParOf" srcId="{186F4C70-12AF-4980-A160-46E32BF01F06}" destId="{E9842FAD-5B5B-4989-88B1-161574F93B70}" srcOrd="1" destOrd="0" presId="urn:microsoft.com/office/officeart/2005/8/layout/list1"/>
    <dgm:cxn modelId="{0264710B-7D0B-4975-8D38-D614E35E3196}" type="presParOf" srcId="{186F4C70-12AF-4980-A160-46E32BF01F06}" destId="{4F7BB4E4-7047-4EE4-8816-7C88DC7695B0}" srcOrd="2" destOrd="0" presId="urn:microsoft.com/office/officeart/2005/8/layout/list1"/>
    <dgm:cxn modelId="{B7A2D929-D144-4FB0-9D7A-BBACF7686909}" type="presParOf" srcId="{186F4C70-12AF-4980-A160-46E32BF01F06}" destId="{980490CC-646B-403D-8B4C-51FBA4E067EF}" srcOrd="3" destOrd="0" presId="urn:microsoft.com/office/officeart/2005/8/layout/list1"/>
    <dgm:cxn modelId="{A0450E3D-C813-48E6-9743-23E0BA8DE3BD}" type="presParOf" srcId="{186F4C70-12AF-4980-A160-46E32BF01F06}" destId="{405D53C4-08CB-4A0A-B7AC-50C40D2DF01B}" srcOrd="4" destOrd="0" presId="urn:microsoft.com/office/officeart/2005/8/layout/list1"/>
    <dgm:cxn modelId="{5838251F-26DB-4C38-B3D6-58D334B53177}" type="presParOf" srcId="{405D53C4-08CB-4A0A-B7AC-50C40D2DF01B}" destId="{3A2888D7-6BF2-4CBF-B03C-E583A093B977}" srcOrd="0" destOrd="0" presId="urn:microsoft.com/office/officeart/2005/8/layout/list1"/>
    <dgm:cxn modelId="{BC41F279-2E72-44D7-9761-9087ECAE539E}" type="presParOf" srcId="{405D53C4-08CB-4A0A-B7AC-50C40D2DF01B}" destId="{D5826538-8C84-408C-88C0-5E3D6D9F56F7}" srcOrd="1" destOrd="0" presId="urn:microsoft.com/office/officeart/2005/8/layout/list1"/>
    <dgm:cxn modelId="{9F93DA9C-447E-41D7-9A3F-196B25DDB31F}" type="presParOf" srcId="{186F4C70-12AF-4980-A160-46E32BF01F06}" destId="{868A9C0C-D365-418A-9CB0-4144ECA6E413}" srcOrd="5" destOrd="0" presId="urn:microsoft.com/office/officeart/2005/8/layout/list1"/>
    <dgm:cxn modelId="{2AF710B2-CBA3-48A7-9C13-A6412C525D20}" type="presParOf" srcId="{186F4C70-12AF-4980-A160-46E32BF01F06}" destId="{F9641E33-24B6-4930-8F45-E903814550F5}" srcOrd="6" destOrd="0" presId="urn:microsoft.com/office/officeart/2005/8/layout/list1"/>
    <dgm:cxn modelId="{CDB2CB03-058A-4D45-9974-0431F4E1F7AB}" type="presParOf" srcId="{186F4C70-12AF-4980-A160-46E32BF01F06}" destId="{ED87F08F-CC9E-4732-B767-B3302B8ED9DF}" srcOrd="7" destOrd="0" presId="urn:microsoft.com/office/officeart/2005/8/layout/list1"/>
    <dgm:cxn modelId="{1D3C5B72-D7BA-4BDD-BA48-59CDDA9E2422}" type="presParOf" srcId="{186F4C70-12AF-4980-A160-46E32BF01F06}" destId="{6059C318-B1E4-4885-905F-965BF1AF2E8E}" srcOrd="8" destOrd="0" presId="urn:microsoft.com/office/officeart/2005/8/layout/list1"/>
    <dgm:cxn modelId="{EF9CB030-8FCE-4B2D-BAAE-C90954895D62}" type="presParOf" srcId="{6059C318-B1E4-4885-905F-965BF1AF2E8E}" destId="{EA9CCAD7-A615-4C2E-9E7D-30C8B42A3456}" srcOrd="0" destOrd="0" presId="urn:microsoft.com/office/officeart/2005/8/layout/list1"/>
    <dgm:cxn modelId="{C2A4CBFA-1918-449A-877A-1303F8029D20}" type="presParOf" srcId="{6059C318-B1E4-4885-905F-965BF1AF2E8E}" destId="{3930B16F-6DEF-499E-9F4E-EB61F7573E45}" srcOrd="1" destOrd="0" presId="urn:microsoft.com/office/officeart/2005/8/layout/list1"/>
    <dgm:cxn modelId="{CE1F6D2D-FA6D-459F-983E-3A008F11E4AF}" type="presParOf" srcId="{186F4C70-12AF-4980-A160-46E32BF01F06}" destId="{8171F65A-B46E-49BD-95FB-B295A3B736A5}" srcOrd="9" destOrd="0" presId="urn:microsoft.com/office/officeart/2005/8/layout/list1"/>
    <dgm:cxn modelId="{132C33B4-302F-4D5A-9C6F-4DC0CAEE3CB4}" type="presParOf" srcId="{186F4C70-12AF-4980-A160-46E32BF01F06}" destId="{1E5E2E5B-5F3A-477A-A564-828B15DC2AF4}" srcOrd="10" destOrd="0" presId="urn:microsoft.com/office/officeart/2005/8/layout/list1"/>
    <dgm:cxn modelId="{9CF83719-3354-44B3-AA08-0F5B02347B09}" type="presParOf" srcId="{186F4C70-12AF-4980-A160-46E32BF01F06}" destId="{4B1A4A6F-E5CD-435B-A795-EE7448DC40E0}" srcOrd="11" destOrd="0" presId="urn:microsoft.com/office/officeart/2005/8/layout/list1"/>
    <dgm:cxn modelId="{BB6E1C77-05A3-4563-B74C-9C5A040756A0}" type="presParOf" srcId="{186F4C70-12AF-4980-A160-46E32BF01F06}" destId="{A06DF3B4-B3A1-41EA-B73D-394407741402}" srcOrd="12" destOrd="0" presId="urn:microsoft.com/office/officeart/2005/8/layout/list1"/>
    <dgm:cxn modelId="{9F02C926-0F5E-4A17-932C-6D9C1D12EA17}" type="presParOf" srcId="{A06DF3B4-B3A1-41EA-B73D-394407741402}" destId="{5D51B2A2-009E-4BF0-8D3C-FE812E3918D9}" srcOrd="0" destOrd="0" presId="urn:microsoft.com/office/officeart/2005/8/layout/list1"/>
    <dgm:cxn modelId="{780FF41D-4449-472B-8D28-4102961548C1}" type="presParOf" srcId="{A06DF3B4-B3A1-41EA-B73D-394407741402}" destId="{9D3A0D6F-39DA-44B8-B82C-7762172884C2}" srcOrd="1" destOrd="0" presId="urn:microsoft.com/office/officeart/2005/8/layout/list1"/>
    <dgm:cxn modelId="{A1B7B526-CE2A-452D-818A-61A606072FB7}" type="presParOf" srcId="{186F4C70-12AF-4980-A160-46E32BF01F06}" destId="{3A4B7D91-BAC2-4C82-8AF8-9CCAB64BE029}" srcOrd="13" destOrd="0" presId="urn:microsoft.com/office/officeart/2005/8/layout/list1"/>
    <dgm:cxn modelId="{892E6DDD-9BD2-4D9D-8FF0-2E4719ED403B}" type="presParOf" srcId="{186F4C70-12AF-4980-A160-46E32BF01F06}" destId="{ABE09FAA-EB9A-4B29-A5E1-786378BD5275}" srcOrd="14" destOrd="0" presId="urn:microsoft.com/office/officeart/2005/8/layout/list1"/>
    <dgm:cxn modelId="{2FF82351-C650-45CD-86A8-AFF769D6D582}" type="presParOf" srcId="{186F4C70-12AF-4980-A160-46E32BF01F06}" destId="{E189E9BD-CDF1-4CC1-AC77-D17099FAA132}" srcOrd="15" destOrd="0" presId="urn:microsoft.com/office/officeart/2005/8/layout/list1"/>
    <dgm:cxn modelId="{F7EC12C3-F8EE-4B5E-A062-F2F2C668A34C}" type="presParOf" srcId="{186F4C70-12AF-4980-A160-46E32BF01F06}" destId="{CA1D9B21-4765-4CD1-962B-04507003E8DB}" srcOrd="16" destOrd="0" presId="urn:microsoft.com/office/officeart/2005/8/layout/list1"/>
    <dgm:cxn modelId="{554A67AA-0CB8-43DE-8FEC-9DEF7E69897B}" type="presParOf" srcId="{CA1D9B21-4765-4CD1-962B-04507003E8DB}" destId="{39C0D041-AA51-48C7-B3AD-7A3A00255D95}" srcOrd="0" destOrd="0" presId="urn:microsoft.com/office/officeart/2005/8/layout/list1"/>
    <dgm:cxn modelId="{FD8B5B2A-B188-4E14-8A10-629725FF5566}" type="presParOf" srcId="{CA1D9B21-4765-4CD1-962B-04507003E8DB}" destId="{D14761D8-4EA9-462F-B81B-4ABFBD0DF675}" srcOrd="1" destOrd="0" presId="urn:microsoft.com/office/officeart/2005/8/layout/list1"/>
    <dgm:cxn modelId="{48B8B3AD-D4EE-46CB-B020-F2934784C27C}" type="presParOf" srcId="{186F4C70-12AF-4980-A160-46E32BF01F06}" destId="{96C849CA-A495-4247-90EF-027FF7C7D341}" srcOrd="17" destOrd="0" presId="urn:microsoft.com/office/officeart/2005/8/layout/list1"/>
    <dgm:cxn modelId="{C1D0E28E-3230-45C1-9590-38D2F203CD5D}" type="presParOf" srcId="{186F4C70-12AF-4980-A160-46E32BF01F06}" destId="{B6DDA813-4885-4778-963A-0D4CED69D2B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F9BB9-0D6E-46A1-B209-4689DAFF36D2}">
      <dsp:nvSpPr>
        <dsp:cNvPr id="0" name=""/>
        <dsp:cNvSpPr/>
      </dsp:nvSpPr>
      <dsp:spPr>
        <a:xfrm>
          <a:off x="0" y="606"/>
          <a:ext cx="5651500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5123D-ED88-4A82-B907-CD620C0F3C7D}">
      <dsp:nvSpPr>
        <dsp:cNvPr id="0" name=""/>
        <dsp:cNvSpPr/>
      </dsp:nvSpPr>
      <dsp:spPr>
        <a:xfrm>
          <a:off x="378364" y="576315"/>
          <a:ext cx="780632" cy="78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41DEA-AC3D-4FFD-8356-D195F777CA46}">
      <dsp:nvSpPr>
        <dsp:cNvPr id="0" name=""/>
        <dsp:cNvSpPr/>
      </dsp:nvSpPr>
      <dsp:spPr>
        <a:xfrm>
          <a:off x="1639328" y="606"/>
          <a:ext cx="4012171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Bitmap and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Vector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Image,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Image’s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generation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,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Genetic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algorithm</a:t>
          </a:r>
          <a:endParaRPr lang="en-US" sz="2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1639328" y="606"/>
        <a:ext cx="4012171" cy="1419331"/>
      </dsp:txXfrm>
    </dsp:sp>
    <dsp:sp modelId="{A47744BA-244F-4282-BE0A-704C7919A898}">
      <dsp:nvSpPr>
        <dsp:cNvPr id="0" name=""/>
        <dsp:cNvSpPr/>
      </dsp:nvSpPr>
      <dsp:spPr>
        <a:xfrm>
          <a:off x="0" y="1774771"/>
          <a:ext cx="5651500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CC77BA-F4E7-4B24-9BF0-77C2B9D65684}">
      <dsp:nvSpPr>
        <dsp:cNvPr id="0" name=""/>
        <dsp:cNvSpPr/>
      </dsp:nvSpPr>
      <dsp:spPr>
        <a:xfrm>
          <a:off x="458223" y="2207828"/>
          <a:ext cx="780632" cy="78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D2593-E131-4BE1-BE2B-DE6653119606}">
      <dsp:nvSpPr>
        <dsp:cNvPr id="0" name=""/>
        <dsp:cNvSpPr/>
      </dsp:nvSpPr>
      <dsp:spPr>
        <a:xfrm>
          <a:off x="1639328" y="1774771"/>
          <a:ext cx="4012171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Represent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image in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Vector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–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Based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graphic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by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generating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it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from Bitmap image,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using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GA for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smaller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size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and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clean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scalling</a:t>
          </a:r>
          <a:endParaRPr lang="en-US" sz="2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1639328" y="1774771"/>
        <a:ext cx="4012171" cy="1419331"/>
      </dsp:txXfrm>
    </dsp:sp>
    <dsp:sp modelId="{6E7E1E40-CF5C-4FEB-B148-105822489093}">
      <dsp:nvSpPr>
        <dsp:cNvPr id="0" name=""/>
        <dsp:cNvSpPr/>
      </dsp:nvSpPr>
      <dsp:spPr>
        <a:xfrm>
          <a:off x="0" y="3548936"/>
          <a:ext cx="5651500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B36A9-B97E-4834-976A-1156641BC579}">
      <dsp:nvSpPr>
        <dsp:cNvPr id="0" name=""/>
        <dsp:cNvSpPr/>
      </dsp:nvSpPr>
      <dsp:spPr>
        <a:xfrm>
          <a:off x="436108" y="3954912"/>
          <a:ext cx="780632" cy="78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F56D1-5D15-439E-A6A5-D41A90C37815}">
      <dsp:nvSpPr>
        <dsp:cNvPr id="0" name=""/>
        <dsp:cNvSpPr/>
      </dsp:nvSpPr>
      <dsp:spPr>
        <a:xfrm>
          <a:off x="1639328" y="3548936"/>
          <a:ext cx="4012171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Generated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Images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that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resamble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+-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original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image and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analysis</a:t>
          </a:r>
          <a:r>
            <a:rPr lang="pl-PL" sz="2000" kern="1200" dirty="0">
              <a:latin typeface="Calibri" panose="020F0502020204030204" pitchFamily="34" charset="0"/>
              <a:cs typeface="Calibri" panose="020F0502020204030204" pitchFamily="34" charset="0"/>
            </a:rPr>
            <a:t> of the </a:t>
          </a:r>
          <a:r>
            <a:rPr lang="pl-PL" sz="2000" kern="1200" dirty="0" err="1">
              <a:latin typeface="Calibri" panose="020F0502020204030204" pitchFamily="34" charset="0"/>
              <a:cs typeface="Calibri" panose="020F0502020204030204" pitchFamily="34" charset="0"/>
            </a:rPr>
            <a:t>results</a:t>
          </a:r>
          <a:endParaRPr lang="en-US" sz="2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1639328" y="3548936"/>
        <a:ext cx="4012171" cy="14193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83CB8-72F2-4840-81AA-BFE6434B2AC1}">
      <dsp:nvSpPr>
        <dsp:cNvPr id="0" name=""/>
        <dsp:cNvSpPr/>
      </dsp:nvSpPr>
      <dsp:spPr>
        <a:xfrm>
          <a:off x="0" y="77691"/>
          <a:ext cx="11112680" cy="875160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Evolutionary algorithm (EA) is a metaheuristic optimization algorithm. The idea is based/inspired on a biological evolution (reproduction, mutation, recombination and selection)</a:t>
          </a:r>
        </a:p>
      </dsp:txBody>
      <dsp:txXfrm>
        <a:off x="42722" y="120413"/>
        <a:ext cx="11027236" cy="789716"/>
      </dsp:txXfrm>
    </dsp:sp>
    <dsp:sp modelId="{4CAFE676-9A20-4FE5-A4B7-A924D70E04B0}">
      <dsp:nvSpPr>
        <dsp:cNvPr id="0" name=""/>
        <dsp:cNvSpPr/>
      </dsp:nvSpPr>
      <dsp:spPr>
        <a:xfrm>
          <a:off x="0" y="1016211"/>
          <a:ext cx="11112680" cy="875160"/>
        </a:xfrm>
        <a:prstGeom prst="round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0" kern="1200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Types</a:t>
          </a:r>
          <a:r>
            <a:rPr lang="pl-PL" sz="2200" b="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:</a:t>
          </a:r>
          <a:endParaRPr lang="en-US" sz="2200" b="0" kern="120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2722" y="1058933"/>
        <a:ext cx="11027236" cy="789716"/>
      </dsp:txXfrm>
    </dsp:sp>
    <dsp:sp modelId="{C457C31C-B9C3-4EB9-A854-BB138C0A87EC}">
      <dsp:nvSpPr>
        <dsp:cNvPr id="0" name=""/>
        <dsp:cNvSpPr/>
      </dsp:nvSpPr>
      <dsp:spPr>
        <a:xfrm>
          <a:off x="0" y="1891372"/>
          <a:ext cx="11112680" cy="218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828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 sz="1700" b="1" kern="1200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Genetic</a:t>
          </a:r>
          <a:r>
            <a:rPr lang="pl-PL" sz="1700" b="1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sz="1700" b="1" kern="1200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algorithm</a:t>
          </a:r>
          <a:r>
            <a:rPr lang="pl-PL" sz="1700" b="1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(GA)</a:t>
          </a:r>
          <a:endParaRPr lang="en-US" sz="1700" kern="120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 sz="1700" kern="1200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Genetic</a:t>
          </a:r>
          <a:r>
            <a:rPr lang="pl-PL" sz="17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sz="1700" kern="1200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programming</a:t>
          </a:r>
          <a:endParaRPr lang="en-US" sz="1700" kern="120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 sz="1700" kern="1200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Evolutionary</a:t>
          </a:r>
          <a:r>
            <a:rPr lang="pl-PL" sz="17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sz="1700" kern="1200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programming</a:t>
          </a:r>
          <a:endParaRPr lang="en-US" sz="1700" kern="120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 sz="1700" kern="1200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Evolution</a:t>
          </a:r>
          <a:r>
            <a:rPr lang="pl-PL" sz="17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pl-PL" sz="1700" kern="1200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strategy</a:t>
          </a:r>
          <a:endParaRPr lang="en-US" sz="1700" kern="120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 sz="1700" kern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Differential evolution</a:t>
          </a:r>
          <a:endParaRPr lang="en-US" sz="1700" kern="120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 sz="1700" kern="1200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Neuroevolution</a:t>
          </a:r>
          <a:endParaRPr lang="en-US" sz="1700" kern="1200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q"/>
          </a:pPr>
          <a:r>
            <a:rPr lang="pl-PL" sz="17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Learning </a:t>
          </a:r>
          <a:r>
            <a:rPr lang="pl-PL" sz="1700" kern="1200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classifier</a:t>
          </a:r>
          <a:r>
            <a:rPr lang="pl-PL" sz="17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 system </a:t>
          </a:r>
          <a:r>
            <a:rPr lang="pl-PL" sz="1700" kern="1200" baseline="30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[3</a:t>
          </a:r>
          <a:r>
            <a:rPr lang="pl-PL" sz="1700" kern="1200" baseline="30000" dirty="0"/>
            <a:t>]</a:t>
          </a:r>
          <a:endParaRPr lang="en-US" sz="1700" kern="1200" dirty="0"/>
        </a:p>
      </dsp:txBody>
      <dsp:txXfrm>
        <a:off x="0" y="1891372"/>
        <a:ext cx="11112680" cy="2185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BB4E4-7047-4EE4-8816-7C88DC7695B0}">
      <dsp:nvSpPr>
        <dsp:cNvPr id="0" name=""/>
        <dsp:cNvSpPr/>
      </dsp:nvSpPr>
      <dsp:spPr>
        <a:xfrm>
          <a:off x="0" y="343357"/>
          <a:ext cx="5061097" cy="504000"/>
        </a:xfrm>
        <a:prstGeom prst="rect">
          <a:avLst/>
        </a:prstGeom>
        <a:solidFill>
          <a:srgbClr val="B8BFC9"/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06DC9-3E66-4FEF-8619-85F5722091A5}">
      <dsp:nvSpPr>
        <dsp:cNvPr id="0" name=""/>
        <dsp:cNvSpPr/>
      </dsp:nvSpPr>
      <dsp:spPr>
        <a:xfrm>
          <a:off x="253054" y="48157"/>
          <a:ext cx="3542767" cy="590400"/>
        </a:xfrm>
        <a:prstGeom prst="roundRect">
          <a:avLst/>
        </a:prstGeom>
        <a:solidFill>
          <a:srgbClr val="629DD1"/>
        </a:solidFill>
        <a:ln w="127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133908" tIns="0" rIns="13390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Initial population</a:t>
          </a:r>
          <a:endParaRPr lang="en-US" sz="2000" kern="1200"/>
        </a:p>
      </dsp:txBody>
      <dsp:txXfrm>
        <a:off x="281875" y="76978"/>
        <a:ext cx="3485125" cy="532758"/>
      </dsp:txXfrm>
    </dsp:sp>
    <dsp:sp modelId="{F9641E33-24B6-4930-8F45-E903814550F5}">
      <dsp:nvSpPr>
        <dsp:cNvPr id="0" name=""/>
        <dsp:cNvSpPr/>
      </dsp:nvSpPr>
      <dsp:spPr>
        <a:xfrm>
          <a:off x="0" y="1250557"/>
          <a:ext cx="5061097" cy="504000"/>
        </a:xfrm>
        <a:prstGeom prst="rect">
          <a:avLst/>
        </a:prstGeom>
        <a:solidFill>
          <a:srgbClr val="B8BFC9"/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26538-8C84-408C-88C0-5E3D6D9F56F7}">
      <dsp:nvSpPr>
        <dsp:cNvPr id="0" name=""/>
        <dsp:cNvSpPr/>
      </dsp:nvSpPr>
      <dsp:spPr>
        <a:xfrm>
          <a:off x="253054" y="955357"/>
          <a:ext cx="3542767" cy="590400"/>
        </a:xfrm>
        <a:prstGeom prst="roundRect">
          <a:avLst/>
        </a:prstGeom>
        <a:solidFill>
          <a:srgbClr val="629DD1"/>
        </a:solidFill>
        <a:ln w="127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133908" tIns="0" rIns="13390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Chromosome (also Genotype)</a:t>
          </a:r>
          <a:endParaRPr lang="en-US" sz="2000" kern="1200"/>
        </a:p>
      </dsp:txBody>
      <dsp:txXfrm>
        <a:off x="281875" y="984178"/>
        <a:ext cx="3485125" cy="532758"/>
      </dsp:txXfrm>
    </dsp:sp>
    <dsp:sp modelId="{1E5E2E5B-5F3A-477A-A564-828B15DC2AF4}">
      <dsp:nvSpPr>
        <dsp:cNvPr id="0" name=""/>
        <dsp:cNvSpPr/>
      </dsp:nvSpPr>
      <dsp:spPr>
        <a:xfrm>
          <a:off x="0" y="2157757"/>
          <a:ext cx="5061097" cy="504000"/>
        </a:xfrm>
        <a:prstGeom prst="rect">
          <a:avLst/>
        </a:prstGeom>
        <a:solidFill>
          <a:srgbClr val="B8BFC9"/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30B16F-6DEF-499E-9F4E-EB61F7573E45}">
      <dsp:nvSpPr>
        <dsp:cNvPr id="0" name=""/>
        <dsp:cNvSpPr/>
      </dsp:nvSpPr>
      <dsp:spPr>
        <a:xfrm>
          <a:off x="253054" y="1862557"/>
          <a:ext cx="3542767" cy="590400"/>
        </a:xfrm>
        <a:prstGeom prst="roundRect">
          <a:avLst/>
        </a:prstGeom>
        <a:solidFill>
          <a:srgbClr val="629DD1"/>
        </a:solidFill>
        <a:ln w="127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133908" tIns="0" rIns="13390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Fitness function</a:t>
          </a:r>
          <a:endParaRPr lang="en-US" sz="2000" kern="1200"/>
        </a:p>
      </dsp:txBody>
      <dsp:txXfrm>
        <a:off x="281875" y="1891378"/>
        <a:ext cx="3485125" cy="532758"/>
      </dsp:txXfrm>
    </dsp:sp>
    <dsp:sp modelId="{ABE09FAA-EB9A-4B29-A5E1-786378BD5275}">
      <dsp:nvSpPr>
        <dsp:cNvPr id="0" name=""/>
        <dsp:cNvSpPr/>
      </dsp:nvSpPr>
      <dsp:spPr>
        <a:xfrm>
          <a:off x="0" y="3064957"/>
          <a:ext cx="5061097" cy="504000"/>
        </a:xfrm>
        <a:prstGeom prst="rect">
          <a:avLst/>
        </a:prstGeom>
        <a:solidFill>
          <a:srgbClr val="B8BFC9"/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3A0D6F-39DA-44B8-B82C-7762172884C2}">
      <dsp:nvSpPr>
        <dsp:cNvPr id="0" name=""/>
        <dsp:cNvSpPr/>
      </dsp:nvSpPr>
      <dsp:spPr>
        <a:xfrm>
          <a:off x="253054" y="2769757"/>
          <a:ext cx="3542767" cy="590400"/>
        </a:xfrm>
        <a:prstGeom prst="roundRect">
          <a:avLst/>
        </a:prstGeom>
        <a:solidFill>
          <a:srgbClr val="629DD1"/>
        </a:solidFill>
        <a:ln w="127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133908" tIns="0" rIns="13390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Genetic operators: selection, crossover, mutation</a:t>
          </a:r>
          <a:endParaRPr lang="en-US" sz="2000" kern="1200"/>
        </a:p>
      </dsp:txBody>
      <dsp:txXfrm>
        <a:off x="281875" y="2798578"/>
        <a:ext cx="3485125" cy="532758"/>
      </dsp:txXfrm>
    </dsp:sp>
    <dsp:sp modelId="{B6DDA813-4885-4778-963A-0D4CED69D2B6}">
      <dsp:nvSpPr>
        <dsp:cNvPr id="0" name=""/>
        <dsp:cNvSpPr/>
      </dsp:nvSpPr>
      <dsp:spPr>
        <a:xfrm>
          <a:off x="0" y="3972157"/>
          <a:ext cx="5061097" cy="504000"/>
        </a:xfrm>
        <a:prstGeom prst="rect">
          <a:avLst/>
        </a:prstGeom>
        <a:solidFill>
          <a:srgbClr val="B8BFC9"/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761D8-4EA9-462F-B81B-4ABFBD0DF675}">
      <dsp:nvSpPr>
        <dsp:cNvPr id="0" name=""/>
        <dsp:cNvSpPr/>
      </dsp:nvSpPr>
      <dsp:spPr>
        <a:xfrm>
          <a:off x="253054" y="3676957"/>
          <a:ext cx="3542767" cy="590400"/>
        </a:xfrm>
        <a:prstGeom prst="roundRect">
          <a:avLst/>
        </a:prstGeom>
        <a:solidFill>
          <a:srgbClr val="629DD1"/>
        </a:solidFill>
        <a:ln w="127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133908" tIns="0" rIns="13390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 err="1"/>
            <a:t>Generations</a:t>
          </a:r>
          <a:r>
            <a:rPr lang="pl-PL" sz="2000" kern="1200" dirty="0"/>
            <a:t> and End </a:t>
          </a:r>
          <a:r>
            <a:rPr lang="pl-PL" sz="2000" kern="1200" dirty="0" err="1"/>
            <a:t>evolution</a:t>
          </a:r>
          <a:endParaRPr lang="en-US" sz="2000" kern="1200" dirty="0"/>
        </a:p>
      </dsp:txBody>
      <dsp:txXfrm>
        <a:off x="281875" y="3705778"/>
        <a:ext cx="3485125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863C-1641-4666-8183-11CCED53F2EB}" type="datetimeFigureOut">
              <a:rPr lang="pl-PL" smtClean="0"/>
              <a:t>16.11.2021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5A43-5290-44EB-BE16-AA33ACD61F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7381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863C-1641-4666-8183-11CCED53F2EB}" type="datetimeFigureOut">
              <a:rPr lang="pl-PL" smtClean="0"/>
              <a:t>16.11.2021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5A43-5290-44EB-BE16-AA33ACD61F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27154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863C-1641-4666-8183-11CCED53F2EB}" type="datetimeFigureOut">
              <a:rPr lang="pl-PL" smtClean="0"/>
              <a:t>16.11.2021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5A43-5290-44EB-BE16-AA33ACD61F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89840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863C-1641-4666-8183-11CCED53F2EB}" type="datetimeFigureOut">
              <a:rPr lang="pl-PL" smtClean="0"/>
              <a:t>16.11.2021</a:t>
            </a:fld>
            <a:endParaRPr lang="pl-P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5A43-5290-44EB-BE16-AA33ACD61F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5281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863C-1641-4666-8183-11CCED53F2EB}" type="datetimeFigureOut">
              <a:rPr lang="pl-PL" smtClean="0"/>
              <a:t>16.11.2021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5A43-5290-44EB-BE16-AA33ACD61F0C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72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863C-1641-4666-8183-11CCED53F2EB}" type="datetimeFigureOut">
              <a:rPr lang="pl-PL" smtClean="0"/>
              <a:t>16.11.2021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5A43-5290-44EB-BE16-AA33ACD61F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2916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863C-1641-4666-8183-11CCED53F2EB}" type="datetimeFigureOut">
              <a:rPr lang="pl-PL" smtClean="0"/>
              <a:t>16.11.2021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5A43-5290-44EB-BE16-AA33ACD61F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7382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863C-1641-4666-8183-11CCED53F2EB}" type="datetimeFigureOut">
              <a:rPr lang="pl-PL" smtClean="0"/>
              <a:t>16.11.2021</a:t>
            </a:fld>
            <a:endParaRPr lang="pl-P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l-P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5A43-5290-44EB-BE16-AA33ACD61F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376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8AE863C-1641-4666-8183-11CCED53F2EB}" type="datetimeFigureOut">
              <a:rPr lang="pl-PL" smtClean="0"/>
              <a:t>16.11.2021</a:t>
            </a:fld>
            <a:endParaRPr lang="pl-P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l-P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5A43-5290-44EB-BE16-AA33ACD61F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367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863C-1641-4666-8183-11CCED53F2EB}" type="datetimeFigureOut">
              <a:rPr lang="pl-PL" smtClean="0"/>
              <a:t>16.11.2021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5A43-5290-44EB-BE16-AA33ACD61F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6901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863C-1641-4666-8183-11CCED53F2EB}" type="datetimeFigureOut">
              <a:rPr lang="pl-PL" smtClean="0"/>
              <a:t>16.11.2021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5A43-5290-44EB-BE16-AA33ACD61F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45524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8AE863C-1641-4666-8183-11CCED53F2EB}" type="datetimeFigureOut">
              <a:rPr lang="pl-PL" smtClean="0"/>
              <a:t>16.11.2021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9B55A43-5290-44EB-BE16-AA33ACD61F0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5950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tmp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image" Target="../media/image16.png"/><Relationship Id="rId7" Type="http://schemas.openxmlformats.org/officeDocument/2006/relationships/diagramData" Target="../diagrams/data2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microsoft.com/office/2007/relationships/diagramDrawing" Target="../diagrams/drawing2.xml"/><Relationship Id="rId5" Type="http://schemas.openxmlformats.org/officeDocument/2006/relationships/image" Target="../media/image11.png"/><Relationship Id="rId10" Type="http://schemas.openxmlformats.org/officeDocument/2006/relationships/diagramColors" Target="../diagrams/colors2.xml"/><Relationship Id="rId4" Type="http://schemas.openxmlformats.org/officeDocument/2006/relationships/image" Target="../media/image17.svg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7.svg"/><Relationship Id="rId7" Type="http://schemas.openxmlformats.org/officeDocument/2006/relationships/diagramColors" Target="../diagrams/colors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11" Type="http://schemas.openxmlformats.org/officeDocument/2006/relationships/image" Target="../media/image18.tmp"/><Relationship Id="rId5" Type="http://schemas.openxmlformats.org/officeDocument/2006/relationships/diagramLayout" Target="../diagrams/layout3.xml"/><Relationship Id="rId10" Type="http://schemas.openxmlformats.org/officeDocument/2006/relationships/image" Target="../media/image12.svg"/><Relationship Id="rId4" Type="http://schemas.openxmlformats.org/officeDocument/2006/relationships/diagramData" Target="../diagrams/data3.xml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tmp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tmp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7.tm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tmp"/><Relationship Id="rId4" Type="http://schemas.openxmlformats.org/officeDocument/2006/relationships/image" Target="../media/image28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volutionary_algorithm" TargetMode="External"/><Relationship Id="rId7" Type="http://schemas.openxmlformats.org/officeDocument/2006/relationships/image" Target="../media/image12.svg"/><Relationship Id="rId2" Type="http://schemas.openxmlformats.org/officeDocument/2006/relationships/hyperlink" Target="https://xd.adobe.com/ideas/principles/app-design/bitmap-vs-vector-images-difference/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hyperlink" Target="https://www.mathworks.com/help/gads/how-the-genetic-algorithm-works.html" TargetMode="External"/><Relationship Id="rId4" Type="http://schemas.openxmlformats.org/officeDocument/2006/relationships/hyperlink" Target="https://skill-lync.com/student-projects/week-4-genetic-algorithm-316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E2ACB5-AC7C-42C0-859D-2585BE8A5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INTRO</a:t>
            </a:r>
          </a:p>
        </p:txBody>
      </p:sp>
      <p:pic>
        <p:nvPicPr>
          <p:cNvPr id="6" name="Grafika 5" descr="Machanie ręką kontur">
            <a:extLst>
              <a:ext uri="{FF2B5EF4-FFF2-40B4-BE49-F238E27FC236}">
                <a16:creationId xmlns:a16="http://schemas.microsoft.com/office/drawing/2014/main" id="{C581D1F5-961C-4EB3-B7DD-BBCF4BE3E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5200" y="25955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85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9D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950E24-E4D8-4AC3-B1F0-EFF8481D8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2526" y="647700"/>
            <a:ext cx="10506074" cy="2295525"/>
          </a:xfrm>
        </p:spPr>
        <p:txBody>
          <a:bodyPr>
            <a:noAutofit/>
          </a:bodyPr>
          <a:lstStyle/>
          <a:p>
            <a:pPr algn="just"/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Generation of Vector-Based</a:t>
            </a:r>
            <a:r>
              <a:rPr lang="pl-PL" sz="4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Graphics from Existing Bitmap Images by means of the Genetic Algorithm</a:t>
            </a:r>
            <a:r>
              <a:rPr lang="pl-PL" sz="4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[1]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15C1643-4690-45A6-ABDE-3592BF7E8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63101" y="6078539"/>
            <a:ext cx="2447924" cy="407986"/>
          </a:xfrm>
        </p:spPr>
        <p:txBody>
          <a:bodyPr/>
          <a:lstStyle/>
          <a:p>
            <a:pPr algn="r"/>
            <a:r>
              <a:rPr lang="pl-PL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Mateusz Guściora</a:t>
            </a:r>
          </a:p>
        </p:txBody>
      </p:sp>
      <p:pic>
        <p:nvPicPr>
          <p:cNvPr id="4" name="Obraz 3" descr="Obraz zawierający tekst, jednostka pływająca, żaglowiec, transport&#10;&#10;Opis wygenerowany automatycznie">
            <a:extLst>
              <a:ext uri="{FF2B5EF4-FFF2-40B4-BE49-F238E27FC236}">
                <a16:creationId xmlns:a16="http://schemas.microsoft.com/office/drawing/2014/main" id="{92ECC415-3F14-4B44-861E-A355611510E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526" y="3192464"/>
            <a:ext cx="8610598" cy="32940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20944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9D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10B284-BA66-4B0A-803A-02567B45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337721F-D485-44CC-BC7B-2F242E619F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49"/>
          <a:stretch/>
        </p:blipFill>
        <p:spPr bwMode="auto">
          <a:xfrm>
            <a:off x="10094214" y="4887087"/>
            <a:ext cx="1864360" cy="175822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670F20F1-FA7A-4DC3-93E6-DE5E7830605B}"/>
              </a:ext>
            </a:extLst>
          </p:cNvPr>
          <p:cNvSpPr txBox="1"/>
          <p:nvPr/>
        </p:nvSpPr>
        <p:spPr>
          <a:xfrm>
            <a:off x="1155032" y="2780798"/>
            <a:ext cx="5018151" cy="2800767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wrap="square" rtlCol="0">
            <a:spAutoFit/>
          </a:bodyPr>
          <a:lstStyle/>
          <a:p>
            <a:pPr lvl="0" algn="just">
              <a:lnSpc>
                <a:spcPct val="100000"/>
              </a:lnSpc>
            </a:pP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Content:</a:t>
            </a:r>
          </a:p>
          <a:p>
            <a:pPr marL="285750" lvl="0" indent="-28575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article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author’s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goals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obtained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effects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Bitmap vs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Vector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Image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(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theory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article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Conclusions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Future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Work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643A847-EEC4-4830-968D-FA62F47E4B76}"/>
              </a:ext>
            </a:extLst>
          </p:cNvPr>
          <p:cNvSpPr txBox="1"/>
          <p:nvPr/>
        </p:nvSpPr>
        <p:spPr>
          <a:xfrm>
            <a:off x="6478626" y="2780798"/>
            <a:ext cx="5018150" cy="1107996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My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Learn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present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gained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knowladge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effects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529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AF33C27-9C85-4B30-9AD7-879D48AFE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089DD-882D-4413-B8BF-4798BFD84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A4BC426D-D1E8-48A2-B1AA-445A0B4D14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1204311"/>
              </p:ext>
            </p:extLst>
          </p:nvPr>
        </p:nvGraphicFramePr>
        <p:xfrm>
          <a:off x="920750" y="965200"/>
          <a:ext cx="5651500" cy="496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ytuł 1">
            <a:extLst>
              <a:ext uri="{FF2B5EF4-FFF2-40B4-BE49-F238E27FC236}">
                <a16:creationId xmlns:a16="http://schemas.microsoft.com/office/drawing/2014/main" id="{2C6DC4F6-A51B-4ECF-94C8-5C3BDD78D4C9}"/>
              </a:ext>
            </a:extLst>
          </p:cNvPr>
          <p:cNvSpPr txBox="1">
            <a:spLocks/>
          </p:cNvSpPr>
          <p:nvPr/>
        </p:nvSpPr>
        <p:spPr bwMode="black">
          <a:xfrm>
            <a:off x="8324046" y="2834640"/>
            <a:ext cx="3384734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 </a:t>
            </a:r>
            <a:r>
              <a:rPr lang="pl-PL" sz="3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article</a:t>
            </a:r>
            <a:endParaRPr lang="pl-PL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B3AD7AE-B526-41F3-9798-3FC0A0BCBF65}"/>
              </a:ext>
            </a:extLst>
          </p:cNvPr>
          <p:cNvSpPr txBox="1"/>
          <p:nvPr/>
        </p:nvSpPr>
        <p:spPr>
          <a:xfrm>
            <a:off x="1116528" y="1049154"/>
            <a:ext cx="827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  <a:endParaRPr lang="pl-PL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DBE0878-DA09-48CE-8AD6-D4609A625A3C}"/>
              </a:ext>
            </a:extLst>
          </p:cNvPr>
          <p:cNvSpPr txBox="1"/>
          <p:nvPr/>
        </p:nvSpPr>
        <p:spPr>
          <a:xfrm>
            <a:off x="1116528" y="2834474"/>
            <a:ext cx="1578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l-PL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Author’s</a:t>
            </a:r>
            <a:r>
              <a:rPr lang="pl-PL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Goals</a:t>
            </a:r>
            <a:endParaRPr lang="pl-PL" sz="1600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DACD868-1413-4912-954E-792144CC0A8D}"/>
              </a:ext>
            </a:extLst>
          </p:cNvPr>
          <p:cNvSpPr txBox="1"/>
          <p:nvPr/>
        </p:nvSpPr>
        <p:spPr>
          <a:xfrm>
            <a:off x="1289782" y="4619794"/>
            <a:ext cx="789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Effects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67511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E2ACB5-AC7C-42C0-859D-2585BE8A5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MIDDLE</a:t>
            </a:r>
          </a:p>
        </p:txBody>
      </p:sp>
    </p:spTree>
    <p:extLst>
      <p:ext uri="{BB962C8B-B14F-4D97-AF65-F5344CB8AC3E}">
        <p14:creationId xmlns:p14="http://schemas.microsoft.com/office/powerpoint/2010/main" val="1723712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9D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F780EC-3C88-4BB5-AEFC-D9885F7F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0" y="204296"/>
            <a:ext cx="7729728" cy="1188720"/>
          </a:xfrm>
        </p:spPr>
        <p:txBody>
          <a:bodyPr>
            <a:normAutofit/>
          </a:bodyPr>
          <a:lstStyle/>
          <a:p>
            <a:pPr algn="ctr"/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Bitmap vs </a:t>
            </a:r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Vector</a:t>
            </a:r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 Image</a:t>
            </a:r>
          </a:p>
        </p:txBody>
      </p:sp>
      <p:sp>
        <p:nvSpPr>
          <p:cNvPr id="4" name="Symbol zastępczy zawartości 2">
            <a:extLst>
              <a:ext uri="{FF2B5EF4-FFF2-40B4-BE49-F238E27FC236}">
                <a16:creationId xmlns:a16="http://schemas.microsoft.com/office/drawing/2014/main" id="{94D00582-ACF7-4FD8-9A2F-DB4C83B1D7DC}"/>
              </a:ext>
            </a:extLst>
          </p:cNvPr>
          <p:cNvSpPr txBox="1">
            <a:spLocks/>
          </p:cNvSpPr>
          <p:nvPr/>
        </p:nvSpPr>
        <p:spPr>
          <a:xfrm>
            <a:off x="6711952" y="1571625"/>
            <a:ext cx="4667250" cy="2757527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pl-PL" sz="2200" b="0" i="0" dirty="0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200" b="0" i="0" dirty="0" err="1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athematical</a:t>
            </a:r>
            <a:r>
              <a:rPr lang="en-US" sz="2200" b="0" i="0" dirty="0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formulas that define shapes, colors, and placement</a:t>
            </a:r>
            <a:endParaRPr lang="pl-PL" sz="2200" b="0" i="0" dirty="0">
              <a:solidFill>
                <a:srgbClr val="2B2B2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pl-PL" sz="2200" dirty="0" err="1">
                <a:solidFill>
                  <a:srgbClr val="2B2B2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Smaller</a:t>
            </a:r>
            <a:r>
              <a:rPr lang="pl-PL" sz="2200" dirty="0">
                <a:solidFill>
                  <a:srgbClr val="2B2B2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file </a:t>
            </a:r>
            <a:r>
              <a:rPr lang="pl-PL" sz="2200" dirty="0" err="1">
                <a:solidFill>
                  <a:srgbClr val="2B2B2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  <a:endParaRPr lang="pl-PL" sz="2200" dirty="0">
              <a:solidFill>
                <a:srgbClr val="2B2B2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pl-PL" sz="2200" dirty="0" err="1">
                <a:solidFill>
                  <a:srgbClr val="2B2B2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pl-PL" sz="2200" dirty="0">
                <a:solidFill>
                  <a:srgbClr val="2B2B2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file </a:t>
            </a:r>
            <a:r>
              <a:rPr lang="pl-PL" sz="2200" dirty="0" err="1">
                <a:solidFill>
                  <a:srgbClr val="2B2B2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conserving</a:t>
            </a:r>
            <a:endParaRPr lang="pl-PL" sz="2200" dirty="0">
              <a:solidFill>
                <a:srgbClr val="2B2B2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pl-PL" sz="2200" b="0" i="0" dirty="0" err="1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E.g</a:t>
            </a:r>
            <a:r>
              <a:rPr lang="pl-PL" sz="2200" b="0" i="0" dirty="0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Logo, </a:t>
            </a:r>
            <a:r>
              <a:rPr lang="pl-PL" sz="2200" b="0" i="0" dirty="0" err="1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signs</a:t>
            </a:r>
            <a:r>
              <a:rPr lang="pl-PL" sz="2200" b="0" i="0" dirty="0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mobile-</a:t>
            </a:r>
            <a:r>
              <a:rPr lang="pl-PL" sz="2200" b="0" i="0" dirty="0" err="1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pl-PL" sz="2200" b="0" i="0" dirty="0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b="0" i="0" dirty="0" err="1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applications</a:t>
            </a:r>
            <a:r>
              <a:rPr lang="pl-PL" sz="2200" b="0" i="0" dirty="0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pl-PL" sz="2200" dirty="0">
                <a:solidFill>
                  <a:srgbClr val="2B2B2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SVG, WMF, PDF</a:t>
            </a:r>
            <a:endParaRPr lang="pl-PL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fika 5" descr="DNA kontur">
            <a:extLst>
              <a:ext uri="{FF2B5EF4-FFF2-40B4-BE49-F238E27FC236}">
                <a16:creationId xmlns:a16="http://schemas.microsoft.com/office/drawing/2014/main" id="{C16B39D7-24E7-44B3-9959-6649B9606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6828" y="4101361"/>
            <a:ext cx="914400" cy="914400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1B7A07B5-314C-405B-8BC4-EB180C93302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4" t="8402" r="20637" b="13320"/>
          <a:stretch/>
        </p:blipFill>
        <p:spPr>
          <a:xfrm>
            <a:off x="1024780" y="4459030"/>
            <a:ext cx="818148" cy="1132167"/>
          </a:xfrm>
          <a:prstGeom prst="rect">
            <a:avLst/>
          </a:prstGeom>
        </p:spPr>
      </p:pic>
      <p:sp>
        <p:nvSpPr>
          <p:cNvPr id="7" name="Symbol zastępczy zawartości 2">
            <a:extLst>
              <a:ext uri="{FF2B5EF4-FFF2-40B4-BE49-F238E27FC236}">
                <a16:creationId xmlns:a16="http://schemas.microsoft.com/office/drawing/2014/main" id="{8C8F1921-84E3-4704-AC77-F677B2629A4E}"/>
              </a:ext>
            </a:extLst>
          </p:cNvPr>
          <p:cNvSpPr txBox="1">
            <a:spLocks/>
          </p:cNvSpPr>
          <p:nvPr/>
        </p:nvSpPr>
        <p:spPr>
          <a:xfrm>
            <a:off x="979397" y="1554692"/>
            <a:ext cx="4667250" cy="272511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pl-PL" sz="2200" b="0" i="0" dirty="0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Raster, </a:t>
            </a:r>
            <a:r>
              <a:rPr lang="en-US" sz="2200" b="0" i="0" dirty="0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collection of bits or pixels</a:t>
            </a:r>
            <a:endParaRPr lang="pl-PL" sz="2200" b="0" i="0" dirty="0">
              <a:solidFill>
                <a:srgbClr val="2B2B2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pl-PL" sz="2200" dirty="0" err="1">
                <a:solidFill>
                  <a:srgbClr val="2B2B2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Larger</a:t>
            </a:r>
            <a:r>
              <a:rPr lang="pl-PL" sz="2200" dirty="0">
                <a:solidFill>
                  <a:srgbClr val="2B2B2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file </a:t>
            </a:r>
            <a:r>
              <a:rPr lang="pl-PL" sz="2200" dirty="0" err="1">
                <a:solidFill>
                  <a:srgbClr val="2B2B2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  <a:endParaRPr lang="pl-PL" sz="2200" dirty="0">
              <a:solidFill>
                <a:srgbClr val="2B2B2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pl-PL" sz="2200" b="0" i="0" dirty="0" err="1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pl-PL" sz="2200" b="0" i="0" dirty="0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b="0" i="0" dirty="0" err="1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visualy</a:t>
            </a:r>
            <a:r>
              <a:rPr lang="pl-PL" sz="2200" b="0" i="0" dirty="0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b="0" i="0" dirty="0" err="1">
                <a:solidFill>
                  <a:srgbClr val="2B2B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apealing</a:t>
            </a:r>
            <a:endParaRPr lang="pl-PL" sz="2200" b="0" i="0" dirty="0">
              <a:solidFill>
                <a:srgbClr val="2B2B2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pl-PL" sz="2200" dirty="0">
                <a:solidFill>
                  <a:srgbClr val="2B2B2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JPG, PNG</a:t>
            </a:r>
            <a:endParaRPr lang="pl-PL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" name="Grupa 8">
            <a:extLst>
              <a:ext uri="{FF2B5EF4-FFF2-40B4-BE49-F238E27FC236}">
                <a16:creationId xmlns:a16="http://schemas.microsoft.com/office/drawing/2014/main" id="{FEE205CE-710F-481B-805B-E9D69160D59F}"/>
              </a:ext>
            </a:extLst>
          </p:cNvPr>
          <p:cNvGrpSpPr/>
          <p:nvPr/>
        </p:nvGrpSpPr>
        <p:grpSpPr>
          <a:xfrm>
            <a:off x="4282015" y="4492078"/>
            <a:ext cx="3634318" cy="2365922"/>
            <a:chOff x="4282015" y="4492078"/>
            <a:chExt cx="3634318" cy="2365922"/>
          </a:xfrm>
        </p:grpSpPr>
        <p:pic>
          <p:nvPicPr>
            <p:cNvPr id="8" name="Obraz 7">
              <a:extLst>
                <a:ext uri="{FF2B5EF4-FFF2-40B4-BE49-F238E27FC236}">
                  <a16:creationId xmlns:a16="http://schemas.microsoft.com/office/drawing/2014/main" id="{40CC9EA3-2DCE-41CF-9D49-704485ECFE20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0048" y="4492078"/>
              <a:ext cx="3083058" cy="1909742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" name="pole tekstowe 2">
              <a:extLst>
                <a:ext uri="{FF2B5EF4-FFF2-40B4-BE49-F238E27FC236}">
                  <a16:creationId xmlns:a16="http://schemas.microsoft.com/office/drawing/2014/main" id="{76E3ECA8-CE38-4E44-9910-F5E44D888234}"/>
                </a:ext>
              </a:extLst>
            </p:cNvPr>
            <p:cNvSpPr txBox="1"/>
            <p:nvPr/>
          </p:nvSpPr>
          <p:spPr>
            <a:xfrm>
              <a:off x="4282015" y="6519446"/>
              <a:ext cx="36343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800" dirty="0">
                  <a:latin typeface="Calibri" panose="020F0502020204030204" pitchFamily="34" charset="0"/>
                  <a:cs typeface="Calibri" panose="020F0502020204030204" pitchFamily="34" charset="0"/>
                </a:rPr>
                <a:t>Fig 1.  Bitmap vs </a:t>
              </a:r>
              <a:r>
                <a:rPr lang="pl-PL" sz="8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vector-based</a:t>
              </a:r>
              <a:r>
                <a:rPr lang="pl-PL" sz="8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pl-PL" sz="8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graphic</a:t>
              </a:r>
              <a:r>
                <a:rPr lang="pl-PL" sz="8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pl-PL" sz="8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scaling</a:t>
              </a:r>
              <a:r>
                <a:rPr lang="pl-PL" sz="8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pl-PL" sz="8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comparision</a:t>
              </a:r>
              <a:endParaRPr lang="pl-PL" sz="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pl-PL" sz="800" dirty="0">
                  <a:latin typeface="Calibri" panose="020F0502020204030204" pitchFamily="34" charset="0"/>
                  <a:cs typeface="Calibri" panose="020F0502020204030204" pitchFamily="34" charset="0"/>
                </a:rPr>
                <a:t>Source: [1]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017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BCB732-B5F6-4520-8DD1-00731481A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216" y="327427"/>
            <a:ext cx="7729728" cy="1188720"/>
          </a:xfrm>
        </p:spPr>
        <p:txBody>
          <a:bodyPr>
            <a:noAutofit/>
          </a:bodyPr>
          <a:lstStyle/>
          <a:p>
            <a:pPr algn="ctr"/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Evolutionary</a:t>
            </a:r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algorithms</a:t>
            </a:r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little</a:t>
            </a:r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theory</a:t>
            </a:r>
            <a:endParaRPr lang="pl-PL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3" name="Picture 9" descr="Obraz zawierający tekst, clipart&#10;&#10;Opis wygenerowany automatycznie">
            <a:extLst>
              <a:ext uri="{FF2B5EF4-FFF2-40B4-BE49-F238E27FC236}">
                <a16:creationId xmlns:a16="http://schemas.microsoft.com/office/drawing/2014/main" id="{D40FD9B3-4DA8-4226-9AAB-701A905E2E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31"/>
          <a:stretch/>
        </p:blipFill>
        <p:spPr bwMode="auto">
          <a:xfrm>
            <a:off x="6430962" y="4964137"/>
            <a:ext cx="4922838" cy="134776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fika 7" descr="Książki kontur">
            <a:extLst>
              <a:ext uri="{FF2B5EF4-FFF2-40B4-BE49-F238E27FC236}">
                <a16:creationId xmlns:a16="http://schemas.microsoft.com/office/drawing/2014/main" id="{BBCEBAC6-C453-4E95-95D0-3925AEF06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39400" y="570706"/>
            <a:ext cx="914400" cy="914400"/>
          </a:xfrm>
          <a:prstGeom prst="rect">
            <a:avLst/>
          </a:prstGeom>
        </p:spPr>
      </p:pic>
      <p:pic>
        <p:nvPicPr>
          <p:cNvPr id="9" name="Grafika 8" descr="DNA kontur">
            <a:extLst>
              <a:ext uri="{FF2B5EF4-FFF2-40B4-BE49-F238E27FC236}">
                <a16:creationId xmlns:a16="http://schemas.microsoft.com/office/drawing/2014/main" id="{8E965407-687D-4045-8645-EC7AEC8FA7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741532">
            <a:off x="6730911" y="3812911"/>
            <a:ext cx="914400" cy="914400"/>
          </a:xfrm>
          <a:prstGeom prst="rect">
            <a:avLst/>
          </a:prstGeom>
        </p:spPr>
      </p:pic>
      <p:pic>
        <p:nvPicPr>
          <p:cNvPr id="10" name="Grafika 9" descr="DNA kontur">
            <a:extLst>
              <a:ext uri="{FF2B5EF4-FFF2-40B4-BE49-F238E27FC236}">
                <a16:creationId xmlns:a16="http://schemas.microsoft.com/office/drawing/2014/main" id="{631D868F-026E-41DB-9F9C-A10184B63A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741532">
            <a:off x="8573771" y="3582221"/>
            <a:ext cx="914400" cy="914400"/>
          </a:xfrm>
          <a:prstGeom prst="rect">
            <a:avLst/>
          </a:prstGeom>
        </p:spPr>
      </p:pic>
      <p:pic>
        <p:nvPicPr>
          <p:cNvPr id="11" name="Grafika 10" descr="DNA kontur">
            <a:extLst>
              <a:ext uri="{FF2B5EF4-FFF2-40B4-BE49-F238E27FC236}">
                <a16:creationId xmlns:a16="http://schemas.microsoft.com/office/drawing/2014/main" id="{1B437D9C-58DC-4B93-8E26-69F34A87F7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741532">
            <a:off x="10279471" y="3736013"/>
            <a:ext cx="914400" cy="914400"/>
          </a:xfrm>
          <a:prstGeom prst="rect">
            <a:avLst/>
          </a:prstGeom>
        </p:spPr>
      </p:pic>
      <p:graphicFrame>
        <p:nvGraphicFramePr>
          <p:cNvPr id="1035" name="pole tekstowe 11">
            <a:extLst>
              <a:ext uri="{FF2B5EF4-FFF2-40B4-BE49-F238E27FC236}">
                <a16:creationId xmlns:a16="http://schemas.microsoft.com/office/drawing/2014/main" id="{9A50F868-380D-4DD6-BFA0-C657A20B42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4504363"/>
              </p:ext>
            </p:extLst>
          </p:nvPr>
        </p:nvGraphicFramePr>
        <p:xfrm>
          <a:off x="241120" y="1786368"/>
          <a:ext cx="11112680" cy="4154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49616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BCB732-B5F6-4520-8DD1-00731481A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216" y="327427"/>
            <a:ext cx="7729728" cy="1188720"/>
          </a:xfrm>
        </p:spPr>
        <p:txBody>
          <a:bodyPr>
            <a:noAutofit/>
          </a:bodyPr>
          <a:lstStyle/>
          <a:p>
            <a:pPr algn="ctr"/>
            <a:r>
              <a:rPr lang="pl-PL" sz="3200">
                <a:latin typeface="Calibri" panose="020F0502020204030204" pitchFamily="34" charset="0"/>
                <a:cs typeface="Calibri" panose="020F0502020204030204" pitchFamily="34" charset="0"/>
              </a:rPr>
              <a:t>Genetic Algorithm (GA) – little theory</a:t>
            </a:r>
            <a:endParaRPr lang="pl-PL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Grafika 7" descr="Książki kontur">
            <a:extLst>
              <a:ext uri="{FF2B5EF4-FFF2-40B4-BE49-F238E27FC236}">
                <a16:creationId xmlns:a16="http://schemas.microsoft.com/office/drawing/2014/main" id="{BBCEBAC6-C453-4E95-95D0-3925AEF06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9400" y="570706"/>
            <a:ext cx="914400" cy="914400"/>
          </a:xfrm>
          <a:prstGeom prst="rect">
            <a:avLst/>
          </a:prstGeom>
        </p:spPr>
      </p:pic>
      <p:graphicFrame>
        <p:nvGraphicFramePr>
          <p:cNvPr id="17" name="pole tekstowe 14">
            <a:extLst>
              <a:ext uri="{FF2B5EF4-FFF2-40B4-BE49-F238E27FC236}">
                <a16:creationId xmlns:a16="http://schemas.microsoft.com/office/drawing/2014/main" id="{8735193A-3397-476A-A838-E7472A93E7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5869461"/>
              </p:ext>
            </p:extLst>
          </p:nvPr>
        </p:nvGraphicFramePr>
        <p:xfrm>
          <a:off x="446568" y="1929895"/>
          <a:ext cx="5061097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6" name="Grafika 15" descr="DNA kontur">
            <a:extLst>
              <a:ext uri="{FF2B5EF4-FFF2-40B4-BE49-F238E27FC236}">
                <a16:creationId xmlns:a16="http://schemas.microsoft.com/office/drawing/2014/main" id="{88B6BEA6-31B7-486B-83F0-FDE395A4CD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3491177">
            <a:off x="772196" y="645779"/>
            <a:ext cx="914400" cy="914400"/>
          </a:xfrm>
          <a:prstGeom prst="rect">
            <a:avLst/>
          </a:prstGeom>
        </p:spPr>
      </p:pic>
      <p:grpSp>
        <p:nvGrpSpPr>
          <p:cNvPr id="4" name="Grupa 3">
            <a:extLst>
              <a:ext uri="{FF2B5EF4-FFF2-40B4-BE49-F238E27FC236}">
                <a16:creationId xmlns:a16="http://schemas.microsoft.com/office/drawing/2014/main" id="{FFF84AC7-6A10-426D-9A6C-6268B4273036}"/>
              </a:ext>
            </a:extLst>
          </p:cNvPr>
          <p:cNvGrpSpPr/>
          <p:nvPr/>
        </p:nvGrpSpPr>
        <p:grpSpPr>
          <a:xfrm>
            <a:off x="5748866" y="1777114"/>
            <a:ext cx="5564176" cy="5004686"/>
            <a:chOff x="5748866" y="1777114"/>
            <a:chExt cx="5564176" cy="5004686"/>
          </a:xfrm>
        </p:grpSpPr>
        <p:pic>
          <p:nvPicPr>
            <p:cNvPr id="7" name="Obraz 6">
              <a:extLst>
                <a:ext uri="{FF2B5EF4-FFF2-40B4-BE49-F238E27FC236}">
                  <a16:creationId xmlns:a16="http://schemas.microsoft.com/office/drawing/2014/main" id="{721ECF88-9E81-44CE-9A26-D297A7A6C9CF}"/>
                </a:ext>
              </a:extLst>
            </p:cNvPr>
            <p:cNvPicPr/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9069" y="1777114"/>
              <a:ext cx="5503973" cy="4644951"/>
            </a:xfrm>
            <a:prstGeom prst="rect">
              <a:avLst/>
            </a:prstGeom>
          </p:spPr>
        </p:pic>
        <p:sp>
          <p:nvSpPr>
            <p:cNvPr id="3" name="pole tekstowe 2">
              <a:extLst>
                <a:ext uri="{FF2B5EF4-FFF2-40B4-BE49-F238E27FC236}">
                  <a16:creationId xmlns:a16="http://schemas.microsoft.com/office/drawing/2014/main" id="{1309A123-12CF-40FB-96E4-BA0CCC5D98B6}"/>
                </a:ext>
              </a:extLst>
            </p:cNvPr>
            <p:cNvSpPr txBox="1"/>
            <p:nvPr/>
          </p:nvSpPr>
          <p:spPr>
            <a:xfrm>
              <a:off x="5748866" y="6443246"/>
              <a:ext cx="55202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800" dirty="0">
                  <a:latin typeface="Calibri" panose="020F0502020204030204" pitchFamily="34" charset="0"/>
                  <a:cs typeface="Calibri" panose="020F0502020204030204" pitchFamily="34" charset="0"/>
                </a:rPr>
                <a:t>Fig 2. Basic </a:t>
              </a:r>
              <a:r>
                <a:rPr lang="pl-PL" sz="8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structure</a:t>
              </a:r>
              <a:r>
                <a:rPr lang="pl-PL" sz="800" dirty="0">
                  <a:latin typeface="Calibri" panose="020F0502020204030204" pitchFamily="34" charset="0"/>
                  <a:cs typeface="Calibri" panose="020F0502020204030204" pitchFamily="34" charset="0"/>
                </a:rPr>
                <a:t> of </a:t>
              </a:r>
              <a:r>
                <a:rPr lang="pl-PL" sz="8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genetic</a:t>
              </a:r>
              <a:r>
                <a:rPr lang="pl-PL" sz="8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pl-PL" sz="8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algorithm</a:t>
              </a:r>
              <a:endParaRPr lang="pl-PL" sz="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pl-PL" sz="800" dirty="0">
                  <a:latin typeface="Calibri" panose="020F0502020204030204" pitchFamily="34" charset="0"/>
                  <a:cs typeface="Calibri" panose="020F0502020204030204" pitchFamily="34" charset="0"/>
                </a:rPr>
                <a:t>Source: [4]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8818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9D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730129-C2D9-4856-A490-C7F43C86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2544"/>
            <a:ext cx="7729728" cy="1188720"/>
          </a:xfrm>
        </p:spPr>
        <p:txBody>
          <a:bodyPr>
            <a:noAutofit/>
          </a:bodyPr>
          <a:lstStyle/>
          <a:p>
            <a:pPr algn="ctr"/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articlE</a:t>
            </a:r>
            <a:endParaRPr lang="pl-PL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Obraz 4" descr="Obraz zawierający stół&#10;&#10;Opis wygenerowany automatycznie">
            <a:extLst>
              <a:ext uri="{FF2B5EF4-FFF2-40B4-BE49-F238E27FC236}">
                <a16:creationId xmlns:a16="http://schemas.microsoft.com/office/drawing/2014/main" id="{61A53852-4559-4BD4-8C20-BD504DCA18E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077" y="1727269"/>
            <a:ext cx="5794107" cy="292946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" name="Grafika 6" descr="DNA kontur">
            <a:extLst>
              <a:ext uri="{FF2B5EF4-FFF2-40B4-BE49-F238E27FC236}">
                <a16:creationId xmlns:a16="http://schemas.microsoft.com/office/drawing/2014/main" id="{895E3210-20E3-4580-806C-FA1DF0C08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741532">
            <a:off x="998130" y="631030"/>
            <a:ext cx="914400" cy="914400"/>
          </a:xfrm>
          <a:prstGeom prst="rect">
            <a:avLst/>
          </a:prstGeom>
        </p:spPr>
      </p:pic>
      <p:sp>
        <p:nvSpPr>
          <p:cNvPr id="8" name="Symbol zastępczy zawartości 2">
            <a:extLst>
              <a:ext uri="{FF2B5EF4-FFF2-40B4-BE49-F238E27FC236}">
                <a16:creationId xmlns:a16="http://schemas.microsoft.com/office/drawing/2014/main" id="{215B3D08-1000-434E-A6FE-54D900548629}"/>
              </a:ext>
            </a:extLst>
          </p:cNvPr>
          <p:cNvSpPr txBox="1">
            <a:spLocks/>
          </p:cNvSpPr>
          <p:nvPr/>
        </p:nvSpPr>
        <p:spPr>
          <a:xfrm>
            <a:off x="512956" y="1962336"/>
            <a:ext cx="4667250" cy="3200679"/>
          </a:xfrm>
          <a:prstGeom prst="rect">
            <a:avLst/>
          </a:prstGeom>
          <a:solidFill>
            <a:schemeClr val="bg1">
              <a:alpha val="82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Initial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population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byte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randomized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(0-255) from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information</a:t>
            </a:r>
            <a:endParaRPr lang="pl-PL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triangle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contains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bytes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desribing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shading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r,g,b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alpha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) and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position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(x1,y1…)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Fitness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calculation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and Fitness </a:t>
            </a:r>
            <a:r>
              <a:rPr lang="pl-PL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scalling</a:t>
            </a:r>
            <a:endParaRPr lang="pl-PL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pl-PL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Obraz 9" descr="Obraz zawierający stół&#10;&#10;Opis wygenerowany automatycznie">
            <a:extLst>
              <a:ext uri="{FF2B5EF4-FFF2-40B4-BE49-F238E27FC236}">
                <a16:creationId xmlns:a16="http://schemas.microsoft.com/office/drawing/2014/main" id="{167794D4-E6A1-4897-8CAE-7094D3302DB7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014" y="5111496"/>
            <a:ext cx="7191431" cy="122999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863C9A5-B1D1-486A-974F-DF9B27FBA288}"/>
              </a:ext>
            </a:extLst>
          </p:cNvPr>
          <p:cNvSpPr txBox="1"/>
          <p:nvPr/>
        </p:nvSpPr>
        <p:spPr>
          <a:xfrm>
            <a:off x="5580549" y="4683421"/>
            <a:ext cx="5833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Fig 4. Organization of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data</a:t>
            </a:r>
          </a:p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Source: [1]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CD3C6169-5864-4D07-B665-246B6D474182}"/>
              </a:ext>
            </a:extLst>
          </p:cNvPr>
          <p:cNvSpPr txBox="1"/>
          <p:nvPr/>
        </p:nvSpPr>
        <p:spPr>
          <a:xfrm>
            <a:off x="5120301" y="6454309"/>
            <a:ext cx="5833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Fig 5. Fitness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endParaRPr lang="pl-PL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Source: [1]</a:t>
            </a:r>
          </a:p>
        </p:txBody>
      </p:sp>
    </p:spTree>
    <p:extLst>
      <p:ext uri="{BB962C8B-B14F-4D97-AF65-F5344CB8AC3E}">
        <p14:creationId xmlns:p14="http://schemas.microsoft.com/office/powerpoint/2010/main" val="1175757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9D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730129-C2D9-4856-A490-C7F43C86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2544"/>
            <a:ext cx="7729728" cy="1188720"/>
          </a:xfrm>
        </p:spPr>
        <p:txBody>
          <a:bodyPr>
            <a:noAutofit/>
          </a:bodyPr>
          <a:lstStyle/>
          <a:p>
            <a:pPr algn="ctr"/>
            <a:r>
              <a:rPr lang="pl-PL" dirty="0" err="1"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pl-PL" dirty="0" err="1">
                <a:latin typeface="Calibri" panose="020F0502020204030204" pitchFamily="34" charset="0"/>
                <a:cs typeface="Calibri" panose="020F0502020204030204" pitchFamily="34" charset="0"/>
              </a:rPr>
              <a:t>articlE</a:t>
            </a:r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pl-PL" dirty="0" err="1">
                <a:latin typeface="Calibri" panose="020F0502020204030204" pitchFamily="34" charset="0"/>
                <a:cs typeface="Calibri" panose="020F0502020204030204" pitchFamily="34" charset="0"/>
              </a:rPr>
              <a:t>renderingof</a:t>
            </a:r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dirty="0" err="1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dirty="0" err="1">
                <a:latin typeface="Calibri" panose="020F0502020204030204" pitchFamily="34" charset="0"/>
                <a:cs typeface="Calibri" panose="020F0502020204030204" pitchFamily="34" charset="0"/>
              </a:rPr>
              <a:t>indivudual</a:t>
            </a:r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dirty="0" err="1"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 data</a:t>
            </a:r>
          </a:p>
        </p:txBody>
      </p:sp>
      <p:pic>
        <p:nvPicPr>
          <p:cNvPr id="7" name="Grafika 6" descr="DNA kontur">
            <a:extLst>
              <a:ext uri="{FF2B5EF4-FFF2-40B4-BE49-F238E27FC236}">
                <a16:creationId xmlns:a16="http://schemas.microsoft.com/office/drawing/2014/main" id="{895E3210-20E3-4580-806C-FA1DF0C08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741532">
            <a:off x="998130" y="631030"/>
            <a:ext cx="914400" cy="91440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35262E77-10E7-4C1A-8448-406AAD06FF5D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" t="1189" r="1648" b="1428"/>
          <a:stretch/>
        </p:blipFill>
        <p:spPr bwMode="auto">
          <a:xfrm>
            <a:off x="1686559" y="1808480"/>
            <a:ext cx="8664449" cy="4409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5CAA7BD9-60EA-41DB-BA78-0E07B42F6A0A}"/>
              </a:ext>
            </a:extLst>
          </p:cNvPr>
          <p:cNvSpPr txBox="1"/>
          <p:nvPr/>
        </p:nvSpPr>
        <p:spPr>
          <a:xfrm>
            <a:off x="2148840" y="6263640"/>
            <a:ext cx="6876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Fig 6.  Rendering of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individual’s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image</a:t>
            </a:r>
          </a:p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Source: [1]</a:t>
            </a:r>
          </a:p>
        </p:txBody>
      </p:sp>
    </p:spTree>
    <p:extLst>
      <p:ext uri="{BB962C8B-B14F-4D97-AF65-F5344CB8AC3E}">
        <p14:creationId xmlns:p14="http://schemas.microsoft.com/office/powerpoint/2010/main" val="2883441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9D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730129-C2D9-4856-A490-C7F43C86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2544"/>
            <a:ext cx="7729728" cy="1188720"/>
          </a:xfrm>
        </p:spPr>
        <p:txBody>
          <a:bodyPr>
            <a:noAutofit/>
          </a:bodyPr>
          <a:lstStyle/>
          <a:p>
            <a:pPr algn="ctr"/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articlE</a:t>
            </a:r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operators</a:t>
            </a:r>
            <a:endParaRPr lang="pl-PL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rafika 6" descr="DNA kontur">
            <a:extLst>
              <a:ext uri="{FF2B5EF4-FFF2-40B4-BE49-F238E27FC236}">
                <a16:creationId xmlns:a16="http://schemas.microsoft.com/office/drawing/2014/main" id="{895E3210-20E3-4580-806C-FA1DF0C08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741532">
            <a:off x="998130" y="631030"/>
            <a:ext cx="914400" cy="914400"/>
          </a:xfrm>
          <a:prstGeom prst="rect">
            <a:avLst/>
          </a:prstGeom>
        </p:spPr>
      </p:pic>
      <p:pic>
        <p:nvPicPr>
          <p:cNvPr id="5" name="Obraz 4" descr="Obraz zawierający tekst, zrzut ekranu, clipart&#10;&#10;Opis wygenerowany automatycznie">
            <a:extLst>
              <a:ext uri="{FF2B5EF4-FFF2-40B4-BE49-F238E27FC236}">
                <a16:creationId xmlns:a16="http://schemas.microsoft.com/office/drawing/2014/main" id="{D3E670E5-86B8-420E-8803-874A689F717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985" y="1879600"/>
            <a:ext cx="6742815" cy="4602479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D846D1EB-7B5C-4483-A4B7-BE89ABA9584B}"/>
              </a:ext>
            </a:extLst>
          </p:cNvPr>
          <p:cNvSpPr txBox="1"/>
          <p:nvPr/>
        </p:nvSpPr>
        <p:spPr>
          <a:xfrm>
            <a:off x="2871216" y="6519446"/>
            <a:ext cx="6876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Fig 7. 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operators</a:t>
            </a:r>
            <a:endParaRPr lang="pl-PL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Source: [1]</a:t>
            </a:r>
          </a:p>
        </p:txBody>
      </p:sp>
    </p:spTree>
    <p:extLst>
      <p:ext uri="{BB962C8B-B14F-4D97-AF65-F5344CB8AC3E}">
        <p14:creationId xmlns:p14="http://schemas.microsoft.com/office/powerpoint/2010/main" val="1351490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9D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9103F7-D6C0-4855-B86E-D60B6229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661880"/>
            <a:ext cx="7729728" cy="1188720"/>
          </a:xfrm>
        </p:spPr>
        <p:txBody>
          <a:bodyPr>
            <a:noAutofit/>
          </a:bodyPr>
          <a:lstStyle/>
          <a:p>
            <a:pPr algn="ctr"/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 of the </a:t>
            </a:r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Generation</a:t>
            </a:r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process</a:t>
            </a:r>
            <a:endParaRPr lang="pl-PL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AE1C9E7-BABF-42B7-9988-CBE01E3500D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71" y="2754647"/>
            <a:ext cx="11495657" cy="32008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Grafika 4" descr="DNA kontur">
            <a:extLst>
              <a:ext uri="{FF2B5EF4-FFF2-40B4-BE49-F238E27FC236}">
                <a16:creationId xmlns:a16="http://schemas.microsoft.com/office/drawing/2014/main" id="{AF0FC319-7758-48E6-B70D-FD78949ED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741532">
            <a:off x="10609228" y="821810"/>
            <a:ext cx="914400" cy="914400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55F51C8E-2431-446F-A8C5-7617F8AD127E}"/>
              </a:ext>
            </a:extLst>
          </p:cNvPr>
          <p:cNvSpPr txBox="1"/>
          <p:nvPr/>
        </p:nvSpPr>
        <p:spPr>
          <a:xfrm>
            <a:off x="2148840" y="6263640"/>
            <a:ext cx="6876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Fig 8. 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evolution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of a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vector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image</a:t>
            </a:r>
          </a:p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Source: [1]</a:t>
            </a:r>
          </a:p>
        </p:txBody>
      </p:sp>
    </p:spTree>
    <p:extLst>
      <p:ext uri="{BB962C8B-B14F-4D97-AF65-F5344CB8AC3E}">
        <p14:creationId xmlns:p14="http://schemas.microsoft.com/office/powerpoint/2010/main" val="1337254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2248EE-0208-415A-BA7B-ABA5CEF84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139" y="213922"/>
            <a:ext cx="7729728" cy="1188720"/>
          </a:xfrm>
        </p:spPr>
        <p:txBody>
          <a:bodyPr/>
          <a:lstStyle/>
          <a:p>
            <a:pPr algn="ctr"/>
            <a:r>
              <a:rPr lang="pl-PL"/>
              <a:t>Results</a:t>
            </a:r>
            <a:endParaRPr lang="pl-PL" dirty="0"/>
          </a:p>
        </p:txBody>
      </p:sp>
      <p:pic>
        <p:nvPicPr>
          <p:cNvPr id="6" name="Obraz 5" descr="Obraz zawierający pies, ssak&#10;&#10;Opis wygenerowany automatycznie">
            <a:extLst>
              <a:ext uri="{FF2B5EF4-FFF2-40B4-BE49-F238E27FC236}">
                <a16:creationId xmlns:a16="http://schemas.microsoft.com/office/drawing/2014/main" id="{BBBCCFA5-D04B-431E-BDD0-262F1627E11C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" t="3233" r="7265" b="4418"/>
          <a:stretch/>
        </p:blipFill>
        <p:spPr>
          <a:xfrm>
            <a:off x="6234683" y="3548262"/>
            <a:ext cx="5829301" cy="26955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" name="Grafika 6" descr="DNA kontur">
            <a:extLst>
              <a:ext uri="{FF2B5EF4-FFF2-40B4-BE49-F238E27FC236}">
                <a16:creationId xmlns:a16="http://schemas.microsoft.com/office/drawing/2014/main" id="{6975CA06-8159-4B93-90BB-B248B7935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741532">
            <a:off x="697974" y="373851"/>
            <a:ext cx="914400" cy="914400"/>
          </a:xfrm>
          <a:prstGeom prst="rect">
            <a:avLst/>
          </a:prstGeom>
        </p:spPr>
      </p:pic>
      <p:pic>
        <p:nvPicPr>
          <p:cNvPr id="9" name="Obraz 8" descr="Obraz zawierający tekst&#10;&#10;Opis wygenerowany automatycznie">
            <a:extLst>
              <a:ext uri="{FF2B5EF4-FFF2-40B4-BE49-F238E27FC236}">
                <a16:creationId xmlns:a16="http://schemas.microsoft.com/office/drawing/2014/main" id="{52ABE74A-5F8D-4796-8452-E3A1D16163ED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3" t="10019" r="5790" b="3852"/>
          <a:stretch/>
        </p:blipFill>
        <p:spPr>
          <a:xfrm>
            <a:off x="619125" y="1733993"/>
            <a:ext cx="5743575" cy="245700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43A6115E-9AAE-43EA-9AA1-F2DDF3F18886}"/>
              </a:ext>
            </a:extLst>
          </p:cNvPr>
          <p:cNvSpPr txBox="1"/>
          <p:nvPr/>
        </p:nvSpPr>
        <p:spPr>
          <a:xfrm>
            <a:off x="0" y="4306824"/>
            <a:ext cx="6876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Fig 9. 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a</a:t>
            </a:r>
          </a:p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Source: [1]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1B020F6-C38D-4674-9229-95572EB651D7}"/>
              </a:ext>
            </a:extLst>
          </p:cNvPr>
          <p:cNvSpPr txBox="1"/>
          <p:nvPr/>
        </p:nvSpPr>
        <p:spPr>
          <a:xfrm>
            <a:off x="5766816" y="6333744"/>
            <a:ext cx="6876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Fig 10. 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b</a:t>
            </a:r>
          </a:p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Source: [1]</a:t>
            </a:r>
          </a:p>
        </p:txBody>
      </p:sp>
    </p:spTree>
    <p:extLst>
      <p:ext uri="{BB962C8B-B14F-4D97-AF65-F5344CB8AC3E}">
        <p14:creationId xmlns:p14="http://schemas.microsoft.com/office/powerpoint/2010/main" val="1178991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A454DF-2E8D-4330-938E-1593A5BD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60090"/>
            <a:ext cx="7729728" cy="1188720"/>
          </a:xfrm>
        </p:spPr>
        <p:txBody>
          <a:bodyPr/>
          <a:lstStyle/>
          <a:p>
            <a:pPr algn="ctr"/>
            <a:r>
              <a:rPr lang="pl-PL" dirty="0" err="1"/>
              <a:t>Results</a:t>
            </a:r>
            <a:endParaRPr lang="pl-PL" dirty="0"/>
          </a:p>
        </p:txBody>
      </p:sp>
      <p:pic>
        <p:nvPicPr>
          <p:cNvPr id="7" name="Obraz 6" descr="Obraz zawierający tekst, jednostka pływająca, żaglowiec, transport&#10;&#10;Opis wygenerowany automatycznie">
            <a:extLst>
              <a:ext uri="{FF2B5EF4-FFF2-40B4-BE49-F238E27FC236}">
                <a16:creationId xmlns:a16="http://schemas.microsoft.com/office/drawing/2014/main" id="{FB041A16-2786-42D1-B6AD-0EA13371A39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7" t="4045" r="12472" b="4001"/>
          <a:stretch/>
        </p:blipFill>
        <p:spPr>
          <a:xfrm>
            <a:off x="3357940" y="4236509"/>
            <a:ext cx="4841840" cy="1727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9249485C-40E4-40B4-84CF-C621184B5016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" r="3660" b="3574"/>
          <a:stretch/>
        </p:blipFill>
        <p:spPr>
          <a:xfrm>
            <a:off x="698081" y="1936749"/>
            <a:ext cx="4841840" cy="1727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C2418A6C-B472-4E6C-828C-F86663A5CC88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5" t="5854" r="10160" b="1646"/>
          <a:stretch/>
        </p:blipFill>
        <p:spPr>
          <a:xfrm>
            <a:off x="6284744" y="1898649"/>
            <a:ext cx="4841840" cy="172720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8" name="Grafika 7" descr="DNA kontur">
            <a:extLst>
              <a:ext uri="{FF2B5EF4-FFF2-40B4-BE49-F238E27FC236}">
                <a16:creationId xmlns:a16="http://schemas.microsoft.com/office/drawing/2014/main" id="{4A5FB2C7-B541-455D-A516-9435FF07E8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741532">
            <a:off x="10346470" y="5418544"/>
            <a:ext cx="914400" cy="914400"/>
          </a:xfrm>
          <a:prstGeom prst="rect">
            <a:avLst/>
          </a:prstGeom>
        </p:spPr>
      </p:pic>
      <p:pic>
        <p:nvPicPr>
          <p:cNvPr id="10" name="Grafika 9" descr="DNA kontur">
            <a:extLst>
              <a:ext uri="{FF2B5EF4-FFF2-40B4-BE49-F238E27FC236}">
                <a16:creationId xmlns:a16="http://schemas.microsoft.com/office/drawing/2014/main" id="{328A5FD2-1F59-4EC5-8017-59D736495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741532">
            <a:off x="858012" y="628240"/>
            <a:ext cx="914400" cy="91440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861C0CC2-F1BE-4CD4-A5B6-B483BE5B15B5}"/>
              </a:ext>
            </a:extLst>
          </p:cNvPr>
          <p:cNvSpPr txBox="1"/>
          <p:nvPr/>
        </p:nvSpPr>
        <p:spPr>
          <a:xfrm>
            <a:off x="-365760" y="3831336"/>
            <a:ext cx="6876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Fig 11. 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c</a:t>
            </a:r>
          </a:p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Source: [1]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A9EB679-16E0-44E1-810A-04EF1675A87E}"/>
              </a:ext>
            </a:extLst>
          </p:cNvPr>
          <p:cNvSpPr txBox="1"/>
          <p:nvPr/>
        </p:nvSpPr>
        <p:spPr>
          <a:xfrm>
            <a:off x="5315712" y="3721608"/>
            <a:ext cx="6876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Fig 12. 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d</a:t>
            </a:r>
          </a:p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Source: [1]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3B437D86-25B6-456B-BA51-9F5EB3AC736C}"/>
              </a:ext>
            </a:extLst>
          </p:cNvPr>
          <p:cNvSpPr txBox="1"/>
          <p:nvPr/>
        </p:nvSpPr>
        <p:spPr>
          <a:xfrm>
            <a:off x="2340864" y="6099048"/>
            <a:ext cx="6876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Fig 13. 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e</a:t>
            </a:r>
          </a:p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Source: [1]</a:t>
            </a:r>
          </a:p>
        </p:txBody>
      </p:sp>
    </p:spTree>
    <p:extLst>
      <p:ext uri="{BB962C8B-B14F-4D97-AF65-F5344CB8AC3E}">
        <p14:creationId xmlns:p14="http://schemas.microsoft.com/office/powerpoint/2010/main" val="2828716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CD3F51F-E0F2-41F0-9EAD-111C87DFF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BC4435A-E456-4669-A3BF-C2D5BB8A5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904" y="1375086"/>
            <a:ext cx="4289543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pic>
        <p:nvPicPr>
          <p:cNvPr id="6" name="Grafika 5" descr="DNA kontur">
            <a:extLst>
              <a:ext uri="{FF2B5EF4-FFF2-40B4-BE49-F238E27FC236}">
                <a16:creationId xmlns:a16="http://schemas.microsoft.com/office/drawing/2014/main" id="{81117FE1-6E51-4411-9FAC-702C794DA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741532">
            <a:off x="642447" y="294497"/>
            <a:ext cx="914400" cy="914400"/>
          </a:xfrm>
          <a:prstGeom prst="rect">
            <a:avLst/>
          </a:prstGeom>
        </p:spPr>
      </p:pic>
      <p:pic>
        <p:nvPicPr>
          <p:cNvPr id="4" name="Obraz 3" descr="Obraz zawierający stół&#10;&#10;Opis wygenerowany automatycznie">
            <a:extLst>
              <a:ext uri="{FF2B5EF4-FFF2-40B4-BE49-F238E27FC236}">
                <a16:creationId xmlns:a16="http://schemas.microsoft.com/office/drawing/2014/main" id="{D23CB976-FB67-4D3B-9C6C-F40CFDCB74D6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" t="1532" r="1"/>
          <a:stretch/>
        </p:blipFill>
        <p:spPr bwMode="auto">
          <a:xfrm>
            <a:off x="5648646" y="1254642"/>
            <a:ext cx="6047649" cy="148798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Obraz 4" descr="Obraz zawierający stół&#10;&#10;Opis wygenerowany automatycznie">
            <a:extLst>
              <a:ext uri="{FF2B5EF4-FFF2-40B4-BE49-F238E27FC236}">
                <a16:creationId xmlns:a16="http://schemas.microsoft.com/office/drawing/2014/main" id="{6BF5F945-BA86-44CE-86B5-0C08A445CCDF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909" y="4125431"/>
            <a:ext cx="6047169" cy="153446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8" name="pole tekstowe 17">
            <a:extLst>
              <a:ext uri="{FF2B5EF4-FFF2-40B4-BE49-F238E27FC236}">
                <a16:creationId xmlns:a16="http://schemas.microsoft.com/office/drawing/2014/main" id="{9E1DDDC0-F965-4A4E-AE5A-F9E6426F1699}"/>
              </a:ext>
            </a:extLst>
          </p:cNvPr>
          <p:cNvSpPr txBox="1"/>
          <p:nvPr/>
        </p:nvSpPr>
        <p:spPr>
          <a:xfrm>
            <a:off x="507703" y="2870815"/>
            <a:ext cx="4883003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“Percent correct” line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ar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metric of how close to perfect each solution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 was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Quantitative or Qualitative?</a:t>
            </a:r>
            <a:endParaRPr lang="pl-PL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Compression’s comparison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 defTabSz="914400"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Vector based solution = 3 + (10*T</a:t>
            </a: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just" defTabSz="914400"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Bitmap image = 3* width*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heght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BD0C392-A1B3-48E2-BAC5-568725DF5D94}"/>
              </a:ext>
            </a:extLst>
          </p:cNvPr>
          <p:cNvSpPr txBox="1"/>
          <p:nvPr/>
        </p:nvSpPr>
        <p:spPr>
          <a:xfrm>
            <a:off x="5230368" y="2880360"/>
            <a:ext cx="6876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Fig 14. 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endParaRPr lang="pl-PL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Source: [1]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6B7547B-453C-45B7-BE49-0C7B5DA8C559}"/>
              </a:ext>
            </a:extLst>
          </p:cNvPr>
          <p:cNvSpPr txBox="1"/>
          <p:nvPr/>
        </p:nvSpPr>
        <p:spPr>
          <a:xfrm>
            <a:off x="5245608" y="5812536"/>
            <a:ext cx="6876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Fig 15. 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Compression</a:t>
            </a:r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pl-PL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l-PL" sz="800" dirty="0">
                <a:latin typeface="Calibri" panose="020F0502020204030204" pitchFamily="34" charset="0"/>
                <a:cs typeface="Calibri" panose="020F0502020204030204" pitchFamily="34" charset="0"/>
              </a:rPr>
              <a:t>Source: [1]</a:t>
            </a:r>
          </a:p>
        </p:txBody>
      </p:sp>
    </p:spTree>
    <p:extLst>
      <p:ext uri="{BB962C8B-B14F-4D97-AF65-F5344CB8AC3E}">
        <p14:creationId xmlns:p14="http://schemas.microsoft.com/office/powerpoint/2010/main" val="180458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ytuł 1">
            <a:extLst>
              <a:ext uri="{FF2B5EF4-FFF2-40B4-BE49-F238E27FC236}">
                <a16:creationId xmlns:a16="http://schemas.microsoft.com/office/drawing/2014/main" id="{C8D03DFD-2C38-44FE-8EB2-30352E68E2FA}"/>
              </a:ext>
            </a:extLst>
          </p:cNvPr>
          <p:cNvSpPr txBox="1">
            <a:spLocks/>
          </p:cNvSpPr>
          <p:nvPr/>
        </p:nvSpPr>
        <p:spPr bwMode="black">
          <a:xfrm>
            <a:off x="1057445" y="2834639"/>
            <a:ext cx="3600279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CONCLUSIONS*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858D222-D4EA-4FFF-ADB2-245FC016E359}"/>
              </a:ext>
            </a:extLst>
          </p:cNvPr>
          <p:cNvSpPr txBox="1"/>
          <p:nvPr/>
        </p:nvSpPr>
        <p:spPr>
          <a:xfrm>
            <a:off x="5800725" y="2064574"/>
            <a:ext cx="6096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viable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generating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vector-based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graphics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existing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bitmap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images</a:t>
            </a:r>
            <a:endParaRPr lang="pl-PL" sz="2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most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likely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be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improved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by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changing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parametres</a:t>
            </a:r>
            <a:endParaRPr lang="pl-PL" sz="2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Easy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effective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but – run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computational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resources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endParaRPr lang="pl-PL" sz="2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Qualitative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lang="pl-PL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Quantitative</a:t>
            </a:r>
            <a:endParaRPr lang="pl-PL" sz="2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fika 8" descr="DNA kontur">
            <a:extLst>
              <a:ext uri="{FF2B5EF4-FFF2-40B4-BE49-F238E27FC236}">
                <a16:creationId xmlns:a16="http://schemas.microsoft.com/office/drawing/2014/main" id="{78F3D227-0970-42B3-B20E-0442EB157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741532">
            <a:off x="3654375" y="53916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226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AC69639-214E-46F0-A1D5-2AEE6037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 vert="horz" lIns="182880" tIns="182880" rIns="182880" bIns="182880" rtlCol="0" anchor="ctr">
            <a:noAutofit/>
          </a:bodyPr>
          <a:lstStyle/>
          <a:p>
            <a:r>
              <a:rPr lang="en-US" sz="3600" kern="1200" cap="all" spc="200" baseline="0" dirty="0">
                <a:solidFill>
                  <a:srgbClr val="2626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work – possible direction*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3557A00-8E83-4813-A846-686795F761E9}"/>
              </a:ext>
            </a:extLst>
          </p:cNvPr>
          <p:cNvSpPr txBox="1"/>
          <p:nvPr/>
        </p:nvSpPr>
        <p:spPr>
          <a:xfrm>
            <a:off x="2179674" y="2185077"/>
            <a:ext cx="7825563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to improve the method by implementing variable </a:t>
            </a:r>
            <a:r>
              <a:rPr lang="en-US" sz="2200" dirty="0" err="1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lenght</a:t>
            </a: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that could </a:t>
            </a:r>
            <a:r>
              <a:rPr lang="en-US" sz="2200" dirty="0" err="1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inceare</a:t>
            </a: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or decrease the </a:t>
            </a:r>
            <a:r>
              <a:rPr lang="en-US" sz="2200" dirty="0" err="1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numer</a:t>
            </a: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triangles</a:t>
            </a:r>
            <a:endParaRPr lang="pl-PL" sz="2200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Increase the power of rendering engine  (additional shapes and forms)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Vector – based video where geometric primitives are viewed in 3 </a:t>
            </a:r>
            <a:r>
              <a:rPr lang="en-US" sz="2200" dirty="0" err="1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dimnesions</a:t>
            </a:r>
            <a:endParaRPr lang="en-US" sz="2200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l-PL" sz="2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Grafika 13" descr="DNA kontur">
            <a:extLst>
              <a:ext uri="{FF2B5EF4-FFF2-40B4-BE49-F238E27FC236}">
                <a16:creationId xmlns:a16="http://schemas.microsoft.com/office/drawing/2014/main" id="{BE2C1EAE-D653-4C43-8452-762C9BAC8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741532">
            <a:off x="10629333" y="15992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22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C7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E2ACB5-AC7C-42C0-859D-2585BE8A5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sz="5400" dirty="0">
                <a:latin typeface="Calibri" panose="020F0502020204030204" pitchFamily="34" charset="0"/>
                <a:cs typeface="Calibri" panose="020F0502020204030204" pitchFamily="34" charset="0"/>
              </a:rPr>
              <a:t>OUTRO</a:t>
            </a:r>
          </a:p>
        </p:txBody>
      </p:sp>
    </p:spTree>
    <p:extLst>
      <p:ext uri="{BB962C8B-B14F-4D97-AF65-F5344CB8AC3E}">
        <p14:creationId xmlns:p14="http://schemas.microsoft.com/office/powerpoint/2010/main" val="1388429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910B389-8865-4C28-9C60-F14F5BD5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772" y="2996303"/>
            <a:ext cx="4486656" cy="1141497"/>
          </a:xfrm>
        </p:spPr>
        <p:txBody>
          <a:bodyPr>
            <a:normAutofit/>
          </a:bodyPr>
          <a:lstStyle/>
          <a:p>
            <a:pPr algn="ctr"/>
            <a:r>
              <a:rPr lang="pl-PL" sz="3600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6" name="Symbol zastępczy zawartości 2">
            <a:extLst>
              <a:ext uri="{FF2B5EF4-FFF2-40B4-BE49-F238E27FC236}">
                <a16:creationId xmlns:a16="http://schemas.microsoft.com/office/drawing/2014/main" id="{E2E95CED-594B-49F2-A45F-2EC0AF9FB908}"/>
              </a:ext>
            </a:extLst>
          </p:cNvPr>
          <p:cNvSpPr txBox="1">
            <a:spLocks/>
          </p:cNvSpPr>
          <p:nvPr/>
        </p:nvSpPr>
        <p:spPr>
          <a:xfrm>
            <a:off x="6383966" y="1366358"/>
            <a:ext cx="5641457" cy="4843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pl-PL" sz="2200" b="1" dirty="0">
                <a:latin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Weller, C. (2009). Generation of Vector-Based Graphics from Existing Bitmap Images by Means of the Genetic Algorithm</a:t>
            </a:r>
            <a:endParaRPr lang="pl-PL" sz="2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pl-PL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[2]</a:t>
            </a:r>
            <a:r>
              <a:rPr lang="pl-PL" sz="2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https://xd.adobe.com/ideas/principles/app-design/bitmap-vs-vector-images-difference/</a:t>
            </a:r>
            <a:r>
              <a:rPr lang="pl-PL" sz="2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[</a:t>
            </a:r>
            <a:r>
              <a:rPr lang="pl-PL" sz="22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pl-PL" sz="2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15.11.2021]</a:t>
            </a:r>
            <a:endParaRPr lang="pl-PL" sz="2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pl-PL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[3]</a:t>
            </a:r>
            <a:r>
              <a:rPr lang="pl-PL" sz="2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https://en.wikipedia.org/wiki/Evolutionary_algorithm</a:t>
            </a:r>
            <a:r>
              <a:rPr lang="pl-PL" sz="2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[</a:t>
            </a:r>
            <a:r>
              <a:rPr lang="pl-PL" sz="22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pl-PL" sz="2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15.11.2021]</a:t>
            </a:r>
            <a:endParaRPr lang="pl-PL" sz="2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[4]</a:t>
            </a:r>
            <a:r>
              <a:rPr lang="pl-PL" sz="2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https://skill-lync.com/student-projects/week-4-genetic-algorithm-316</a:t>
            </a:r>
            <a:r>
              <a:rPr lang="pl-PL" sz="2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[</a:t>
            </a:r>
            <a:r>
              <a:rPr lang="pl-PL" sz="22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pl-PL" sz="2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15.11.2021]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sz="2200" dirty="0">
                <a:latin typeface="Calibri" panose="020F0502020204030204" pitchFamily="34" charset="0"/>
                <a:cs typeface="Calibri" panose="020F0502020204030204" pitchFamily="34" charset="0"/>
              </a:rPr>
              <a:t>[5]</a:t>
            </a:r>
            <a:r>
              <a:rPr lang="pl-PL" sz="2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https://www.mathworks.com/help/gads/how-the-genetic-algorithm-works.html</a:t>
            </a:r>
            <a:r>
              <a:rPr lang="pl-PL" sz="2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[</a:t>
            </a:r>
            <a:r>
              <a:rPr lang="pl-PL" sz="22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pl-PL" sz="2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15.11.2021]</a:t>
            </a:r>
          </a:p>
          <a:p>
            <a:pPr marL="0" indent="0">
              <a:buNone/>
            </a:pPr>
            <a:endParaRPr lang="pl-PL" sz="22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pl-PL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pl-PL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pl-PL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fika 8" descr="DNA kontur">
            <a:extLst>
              <a:ext uri="{FF2B5EF4-FFF2-40B4-BE49-F238E27FC236}">
                <a16:creationId xmlns:a16="http://schemas.microsoft.com/office/drawing/2014/main" id="{0D6337B2-0F3B-4722-B7E0-0239E6C129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3741532">
            <a:off x="10703761" y="56361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41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C7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E2ACB5-AC7C-42C0-859D-2585BE8A5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4000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pic>
        <p:nvPicPr>
          <p:cNvPr id="6" name="Grafika 5" descr="Machanie ręką kontur">
            <a:extLst>
              <a:ext uri="{FF2B5EF4-FFF2-40B4-BE49-F238E27FC236}">
                <a16:creationId xmlns:a16="http://schemas.microsoft.com/office/drawing/2014/main" id="{C581D1F5-961C-4EB3-B7DD-BBCF4BE3E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5200" y="2595563"/>
            <a:ext cx="914400" cy="91440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5DDC0CE4-24C6-461E-A272-729C03691991}"/>
              </a:ext>
            </a:extLst>
          </p:cNvPr>
          <p:cNvSpPr txBox="1"/>
          <p:nvPr/>
        </p:nvSpPr>
        <p:spPr>
          <a:xfrm>
            <a:off x="638092" y="6204172"/>
            <a:ext cx="962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 </a:t>
            </a:r>
            <a:r>
              <a:rPr lang="pl-PL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questions</a:t>
            </a:r>
            <a:endParaRPr lang="pl-PL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982F485-D82A-4B64-BD51-CAF9F112C6E4}"/>
              </a:ext>
            </a:extLst>
          </p:cNvPr>
          <p:cNvSpPr txBox="1"/>
          <p:nvPr/>
        </p:nvSpPr>
        <p:spPr>
          <a:xfrm rot="10800000">
            <a:off x="1600200" y="6251881"/>
            <a:ext cx="962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 </a:t>
            </a:r>
            <a:r>
              <a:rPr lang="pl-PL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questions</a:t>
            </a:r>
            <a:endParaRPr lang="pl-PL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445429"/>
      </p:ext>
    </p:extLst>
  </p:cSld>
  <p:clrMapOvr>
    <a:masterClrMapping/>
  </p:clrMapOvr>
</p:sld>
</file>

<file path=ppt/theme/theme1.xml><?xml version="1.0" encoding="utf-8"?>
<a:theme xmlns:a="http://schemas.openxmlformats.org/drawingml/2006/main" name="Paczka">
  <a:themeElements>
    <a:clrScheme name="Ciepły niebieski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Paczka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zka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TM10001115[[fn=Paczka]]</Template>
  <TotalTime>998</TotalTime>
  <Words>750</Words>
  <Application>Microsoft Office PowerPoint</Application>
  <PresentationFormat>Panoramiczny</PresentationFormat>
  <Paragraphs>111</Paragraphs>
  <Slides>20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5" baseType="lpstr">
      <vt:lpstr>Arial</vt:lpstr>
      <vt:lpstr>Calibri</vt:lpstr>
      <vt:lpstr>Gill Sans MT</vt:lpstr>
      <vt:lpstr>Wingdings</vt:lpstr>
      <vt:lpstr>Paczka</vt:lpstr>
      <vt:lpstr>INTRO</vt:lpstr>
      <vt:lpstr>Generation of Vector-Based Graphics from Existing Bitmap Images by means of the Genetic Algorithm[1]</vt:lpstr>
      <vt:lpstr>Agenda</vt:lpstr>
      <vt:lpstr>Prezentacja programu PowerPoint</vt:lpstr>
      <vt:lpstr>MIDDLE</vt:lpstr>
      <vt:lpstr>Bitmap vs Vector Image</vt:lpstr>
      <vt:lpstr>Evolutionary algorithms – little theory</vt:lpstr>
      <vt:lpstr>Genetic Algorithm (GA) – little theory</vt:lpstr>
      <vt:lpstr>Genetic algorithm in articlE</vt:lpstr>
      <vt:lpstr>Genetic algorithm in articlE – renderingof an indivudual genetic data</vt:lpstr>
      <vt:lpstr>Genetic algorithm in articlE – genetic operators</vt:lpstr>
      <vt:lpstr>Example of the Generation process</vt:lpstr>
      <vt:lpstr>Results</vt:lpstr>
      <vt:lpstr>Results</vt:lpstr>
      <vt:lpstr>Results</vt:lpstr>
      <vt:lpstr>Prezentacja programu PowerPoint</vt:lpstr>
      <vt:lpstr>Future work – possible direction*</vt:lpstr>
      <vt:lpstr>OUTRO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oracle</dc:creator>
  <cp:lastModifiedBy>oracle</cp:lastModifiedBy>
  <cp:revision>72</cp:revision>
  <dcterms:created xsi:type="dcterms:W3CDTF">2021-11-14T21:19:59Z</dcterms:created>
  <dcterms:modified xsi:type="dcterms:W3CDTF">2021-11-16T12:42:51Z</dcterms:modified>
</cp:coreProperties>
</file>