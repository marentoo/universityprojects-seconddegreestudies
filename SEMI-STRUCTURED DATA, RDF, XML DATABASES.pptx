
<file path=[Content_Types].xml><?xml version="1.0" encoding="utf-8"?>
<Types xmlns="http://schemas.openxmlformats.org/package/2006/content-types"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68" r:id="rId5"/>
    <p:sldId id="266" r:id="rId6"/>
    <p:sldId id="259" r:id="rId7"/>
    <p:sldId id="269" r:id="rId8"/>
    <p:sldId id="271" r:id="rId9"/>
    <p:sldId id="260" r:id="rId10"/>
    <p:sldId id="270" r:id="rId11"/>
    <p:sldId id="263" r:id="rId12"/>
    <p:sldId id="261" r:id="rId13"/>
    <p:sldId id="262" r:id="rId14"/>
    <p:sldId id="265" r:id="rId15"/>
  </p:sldIdLst>
  <p:sldSz cx="12192000" cy="6858000"/>
  <p:notesSz cx="6858000" cy="9144000"/>
  <p:defaultTextStyle>
    <a:defPPr>
      <a:defRPr lang="pl-PL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eusz Guściora (228884)" initials="MG(" lastIdx="1" clrIdx="0">
    <p:extLst>
      <p:ext uri="{19B8F6BF-5375-455C-9EA6-DF929625EA0E}">
        <p15:presenceInfo xmlns:p15="http://schemas.microsoft.com/office/powerpoint/2012/main" userId="S::228884@student.pwr.edu.pl::cc6f3800-5735-4dcb-b7af-90c4e85cdce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asek3">
            <a:extLst>
              <a:ext uri="{FF2B5EF4-FFF2-40B4-BE49-F238E27FC236}">
                <a16:creationId xmlns:a16="http://schemas.microsoft.com/office/drawing/2014/main" id="{B03B7A63-2E60-4683-9462-B8C592D5D62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28776"/>
            <a:ext cx="2159000" cy="522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>
            <a:extLst>
              <a:ext uri="{FF2B5EF4-FFF2-40B4-BE49-F238E27FC236}">
                <a16:creationId xmlns:a16="http://schemas.microsoft.com/office/drawing/2014/main" id="{76D82991-15DE-4CC8-A1E5-E9DD8CF39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1" y="1628776"/>
            <a:ext cx="10081684" cy="5229225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pl-PL" altLang="pl-PL">
              <a:cs typeface="Arial" charset="0"/>
            </a:endParaRPr>
          </a:p>
        </p:txBody>
      </p:sp>
      <p:pic>
        <p:nvPicPr>
          <p:cNvPr id="6" name="Obraz 8">
            <a:extLst>
              <a:ext uri="{FF2B5EF4-FFF2-40B4-BE49-F238E27FC236}">
                <a16:creationId xmlns:a16="http://schemas.microsoft.com/office/drawing/2014/main" id="{92B8B727-B17C-472D-9B64-2E8822D34A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4817" y="1"/>
            <a:ext cx="10168468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Obraz 9">
            <a:extLst>
              <a:ext uri="{FF2B5EF4-FFF2-40B4-BE49-F238E27FC236}">
                <a16:creationId xmlns:a16="http://schemas.microsoft.com/office/drawing/2014/main" id="{D58AA117-6FF7-4020-B960-35452E79E6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67" y="5661026"/>
            <a:ext cx="2017184" cy="100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497668" y="2130425"/>
            <a:ext cx="9453033" cy="20193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pl-PL" altLang="pl-PL" noProof="0"/>
              <a:t>Kliknij, aby edytować styl</a:t>
            </a:r>
          </a:p>
        </p:txBody>
      </p:sp>
      <p:sp>
        <p:nvSpPr>
          <p:cNvPr id="35845" name="Rectangle 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2497668" y="5697538"/>
            <a:ext cx="9453033" cy="900112"/>
          </a:xfrm>
        </p:spPr>
        <p:txBody>
          <a:bodyPr anchor="b"/>
          <a:lstStyle>
            <a:lvl1pPr marL="0" indent="0" algn="ctr">
              <a:buFontTx/>
              <a:buNone/>
              <a:defRPr sz="2000">
                <a:solidFill>
                  <a:srgbClr val="FFD3A1"/>
                </a:solidFill>
              </a:defRPr>
            </a:lvl1pPr>
          </a:lstStyle>
          <a:p>
            <a:pPr lvl="0"/>
            <a:r>
              <a:rPr lang="pl-PL" altLang="pl-PL" noProof="0"/>
              <a:t>Kliknij, aby edytować styl wzorca podtytułu</a:t>
            </a:r>
          </a:p>
        </p:txBody>
      </p:sp>
    </p:spTree>
    <p:extLst>
      <p:ext uri="{BB962C8B-B14F-4D97-AF65-F5344CB8AC3E}">
        <p14:creationId xmlns:p14="http://schemas.microsoft.com/office/powerpoint/2010/main" val="4207477511"/>
      </p:ext>
    </p:extLst>
  </p:cSld>
  <p:clrMapOvr>
    <a:masterClrMapping/>
  </p:clrMapOvr>
  <p:transition>
    <p:randomBar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924282354"/>
      </p:ext>
    </p:extLst>
  </p:cSld>
  <p:clrMapOvr>
    <a:masterClrMapping/>
  </p:clrMapOvr>
  <p:transition>
    <p:randomBa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2550682044"/>
      </p:ext>
    </p:extLst>
  </p:cSld>
  <p:clrMapOvr>
    <a:masterClrMapping/>
  </p:clrMapOvr>
  <p:transition>
    <p:randomBar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14918" y="1881189"/>
            <a:ext cx="5513916" cy="4860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532034" y="1881189"/>
            <a:ext cx="5516033" cy="4860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950831386"/>
      </p:ext>
    </p:extLst>
  </p:cSld>
  <p:clrMapOvr>
    <a:masterClrMapping/>
  </p:clrMapOvr>
  <p:transition>
    <p:randomBar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l-PL"/>
              <a:t>Kliknij, aby edytować styl</a:t>
            </a:r>
            <a:endParaRPr lang="pl-PL" dirty="0"/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1291647213"/>
      </p:ext>
    </p:extLst>
  </p:cSld>
  <p:clrMapOvr>
    <a:masterClrMapping/>
  </p:clrMapOvr>
  <p:transition>
    <p:randomBar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</p:spTree>
    <p:extLst>
      <p:ext uri="{BB962C8B-B14F-4D97-AF65-F5344CB8AC3E}">
        <p14:creationId xmlns:p14="http://schemas.microsoft.com/office/powerpoint/2010/main" val="1090822791"/>
      </p:ext>
    </p:extLst>
  </p:cSld>
  <p:clrMapOvr>
    <a:masterClrMapping/>
  </p:clrMapOvr>
  <p:transition>
    <p:randomBar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2035616"/>
      </p:ext>
    </p:extLst>
  </p:cSld>
  <p:clrMapOvr>
    <a:masterClrMapping/>
  </p:clrMapOvr>
  <p:transition>
    <p:randomBar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43891912"/>
      </p:ext>
    </p:extLst>
  </p:cSld>
  <p:clrMapOvr>
    <a:masterClrMapping/>
  </p:clrMapOvr>
  <p:transition>
    <p:randomBar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pl-PL" noProof="0"/>
              <a:t>Kliknij ikonę, aby dodać obraz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758290017"/>
      </p:ext>
    </p:extLst>
  </p:cSld>
  <p:clrMapOvr>
    <a:masterClrMapping/>
  </p:clrMapOvr>
  <p:transition>
    <p:randomBar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2013407740"/>
      </p:ext>
    </p:extLst>
  </p:cSld>
  <p:clrMapOvr>
    <a:masterClrMapping/>
  </p:clrMapOvr>
  <p:transition>
    <p:randomBar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9241367" y="630239"/>
            <a:ext cx="2806700" cy="6111875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14918" y="630239"/>
            <a:ext cx="8223249" cy="611187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</p:spTree>
    <p:extLst>
      <p:ext uri="{BB962C8B-B14F-4D97-AF65-F5344CB8AC3E}">
        <p14:creationId xmlns:p14="http://schemas.microsoft.com/office/powerpoint/2010/main" val="3404512553"/>
      </p:ext>
    </p:extLst>
  </p:cSld>
  <p:clrMapOvr>
    <a:masterClrMapping/>
  </p:clrMapOvr>
  <p:transition>
    <p:randomBar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0">
            <a:extLst>
              <a:ext uri="{FF2B5EF4-FFF2-40B4-BE49-F238E27FC236}">
                <a16:creationId xmlns:a16="http://schemas.microsoft.com/office/drawing/2014/main" id="{B68F6C32-8DFD-48E2-A51C-2AF0CAB49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352" y="481014"/>
            <a:ext cx="11550649" cy="1292225"/>
          </a:xfrm>
          <a:prstGeom prst="rect">
            <a:avLst/>
          </a:prstGeom>
          <a:solidFill>
            <a:srgbClr val="A7190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pl-PL" altLang="pl-PL">
              <a:cs typeface="Arial" charset="0"/>
            </a:endParaRPr>
          </a:p>
        </p:txBody>
      </p:sp>
      <p:sp>
        <p:nvSpPr>
          <p:cNvPr id="1027" name="Rectangle 13">
            <a:extLst>
              <a:ext uri="{FF2B5EF4-FFF2-40B4-BE49-F238E27FC236}">
                <a16:creationId xmlns:a16="http://schemas.microsoft.com/office/drawing/2014/main" id="{017B1DF9-7E8A-4D58-8BDC-0C4EF362113C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" y="1773238"/>
            <a:ext cx="641351" cy="5084762"/>
          </a:xfrm>
          <a:prstGeom prst="rect">
            <a:avLst/>
          </a:prstGeom>
          <a:solidFill>
            <a:srgbClr val="A7190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endParaRPr lang="pl-PL" altLang="pl-PL">
              <a:cs typeface="Arial" charset="0"/>
            </a:endParaRPr>
          </a:p>
        </p:txBody>
      </p:sp>
      <p:sp>
        <p:nvSpPr>
          <p:cNvPr id="1028" name="Rectangle 14">
            <a:extLst>
              <a:ext uri="{FF2B5EF4-FFF2-40B4-BE49-F238E27FC236}">
                <a16:creationId xmlns:a16="http://schemas.microsoft.com/office/drawing/2014/main" id="{8F17BA4C-2866-4BEC-A875-D9164B026A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4918" y="630238"/>
            <a:ext cx="11233149" cy="1035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 wzorca tytułu</a:t>
            </a:r>
          </a:p>
        </p:txBody>
      </p:sp>
      <p:sp>
        <p:nvSpPr>
          <p:cNvPr id="1029" name="Rectangle 15">
            <a:extLst>
              <a:ext uri="{FF2B5EF4-FFF2-40B4-BE49-F238E27FC236}">
                <a16:creationId xmlns:a16="http://schemas.microsoft.com/office/drawing/2014/main" id="{4B372F69-F92C-4254-8E2D-D73B596ECF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918" y="1881189"/>
            <a:ext cx="11233149" cy="486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pic>
        <p:nvPicPr>
          <p:cNvPr id="1030" name="Obraz 4">
            <a:extLst>
              <a:ext uri="{FF2B5EF4-FFF2-40B4-BE49-F238E27FC236}">
                <a16:creationId xmlns:a16="http://schemas.microsoft.com/office/drawing/2014/main" id="{9080B13F-7ED3-4E87-A0E9-B5EBBB76B90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3012017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48093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randomBar/>
  </p:transition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rebuchet MS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tm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what-is-semi-structured-data/" TargetMode="External"/><Relationship Id="rId2" Type="http://schemas.openxmlformats.org/officeDocument/2006/relationships/hyperlink" Target="https://onlineappsdba.com/index.php/2020/10/21/structured-data-vs-unstructured-data-vs-semi-structured-data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ibite.com/news/scibite-rdf-resource-description-framework-a-natural-semantic-fit/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758D8F-56DC-4A69-A001-079412BC0B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Topic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RDF, XML Databases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617A992F-55F6-4B84-99FB-0B4180B62D61}"/>
              </a:ext>
            </a:extLst>
          </p:cNvPr>
          <p:cNvSpPr>
            <a:spLocks noGrp="1"/>
          </p:cNvSpPr>
          <p:nvPr>
            <p:ph type="subTitle" sz="quarter" idx="1"/>
          </p:nvPr>
        </p:nvSpPr>
        <p:spPr>
          <a:xfrm>
            <a:off x="2497668" y="4276725"/>
            <a:ext cx="9453033" cy="1597025"/>
          </a:xfrm>
        </p:spPr>
        <p:txBody>
          <a:bodyPr/>
          <a:lstStyle/>
          <a:p>
            <a:r>
              <a:rPr lang="pl-P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228884,</a:t>
            </a:r>
          </a:p>
          <a:p>
            <a:r>
              <a:rPr lang="pl-P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Mateusz Guściora</a:t>
            </a:r>
          </a:p>
        </p:txBody>
      </p:sp>
    </p:spTree>
    <p:extLst>
      <p:ext uri="{BB962C8B-B14F-4D97-AF65-F5344CB8AC3E}">
        <p14:creationId xmlns:p14="http://schemas.microsoft.com/office/powerpoint/2010/main" val="2814706637"/>
      </p:ext>
    </p:extLst>
  </p:cSld>
  <p:clrMapOvr>
    <a:masterClrMapping/>
  </p:clrMapOvr>
  <p:transition>
    <p:randomBa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02FA25E-C2DD-4A79-9B55-C1D3272F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293C324-8926-405D-ACB9-BAC07772D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RDF</a:t>
            </a:r>
          </a:p>
          <a:p>
            <a:pPr marL="514350" indent="-514350">
              <a:buFont typeface="+mj-lt"/>
              <a:buAutoNum type="arabicPeriod"/>
            </a:pP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az 3" descr="Obraz zawierający tekst&#10;&#10;Opis wygenerowany automatycznie">
            <a:extLst>
              <a:ext uri="{FF2B5EF4-FFF2-40B4-BE49-F238E27FC236}">
                <a16:creationId xmlns:a16="http://schemas.microsoft.com/office/drawing/2014/main" id="{F36CADC1-FEFF-40B7-B711-B368370F71A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9506" y="5343254"/>
            <a:ext cx="1178561" cy="139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84863"/>
      </p:ext>
    </p:extLst>
  </p:cSld>
  <p:clrMapOvr>
    <a:masterClrMapping/>
  </p:clrMapOvr>
  <p:transition>
    <p:randomBa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99D5198-7EB4-4FC2-AF54-6E306DB02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ADC4118-278B-4DE6-8A9C-A276E8141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19" y="1881190"/>
            <a:ext cx="6195482" cy="4592558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 data is a mix of both structured and unstructured data.</a:t>
            </a:r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does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obey the tabular structure of data models but contains tags or other markers to separate semantic elements and enforce hierarchies</a:t>
            </a:r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0AE7E4CE-ACF3-43DA-AAD7-361BB069C0E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1742" y="1881189"/>
            <a:ext cx="4886325" cy="4592558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A8A44809-9E16-4CC9-9500-5276FB389922}"/>
              </a:ext>
            </a:extLst>
          </p:cNvPr>
          <p:cNvSpPr txBox="1"/>
          <p:nvPr/>
        </p:nvSpPr>
        <p:spPr>
          <a:xfrm>
            <a:off x="5166911" y="58830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l-PL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C6B294BC-492F-440F-AECB-24E830332888}"/>
              </a:ext>
            </a:extLst>
          </p:cNvPr>
          <p:cNvSpPr txBox="1"/>
          <p:nvPr/>
        </p:nvSpPr>
        <p:spPr>
          <a:xfrm>
            <a:off x="8059479" y="6473747"/>
            <a:ext cx="3865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Source: https://onlineappsdba.com</a:t>
            </a:r>
            <a:r>
              <a:rPr lang="pl-PL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906604584"/>
      </p:ext>
    </p:extLst>
  </p:cSld>
  <p:clrMapOvr>
    <a:masterClrMapping/>
  </p:clrMapOvr>
  <p:transition>
    <p:randomBa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929AE3-365C-47E3-857D-8380BEE1D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of </a:t>
            </a:r>
            <a:r>
              <a:rPr lang="pl-PL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</a:t>
            </a:r>
            <a:r>
              <a:rPr lang="pl-PL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1334070-99C5-4A25-8CB1-6BBFF8770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does not conforms to a data model but has some structure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 well defined structure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No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contains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tags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markers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in the same group may or may not have the same attributes or properties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contains sufficient metadata which makes automation and management of data difficult</a:t>
            </a: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semi-structured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data): XML, HTML, JSON,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call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server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logs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tweets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organized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hastags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data from different sources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Obraz 4" descr="Obraz zawierający nocne niebo&#10;&#10;Opis wygenerowany automatycznie">
            <a:extLst>
              <a:ext uri="{FF2B5EF4-FFF2-40B4-BE49-F238E27FC236}">
                <a16:creationId xmlns:a16="http://schemas.microsoft.com/office/drawing/2014/main" id="{B31F5A61-16DB-497A-A7D7-CAC665673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401" y="5378267"/>
            <a:ext cx="1240917" cy="1240917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A2991258-1E0E-4496-A562-954A31B5D5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1977" y="5378267"/>
            <a:ext cx="960846" cy="960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649412"/>
      </p:ext>
    </p:extLst>
  </p:cSld>
  <p:clrMapOvr>
    <a:masterClrMapping/>
  </p:clrMapOvr>
  <p:transition>
    <p:randomBa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7E14A2F-7A43-41BB-B405-6DE491ECA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Solutions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B2352E6-929E-4150-AAF2-6C01188B3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fixed, rigid schema make it difficult in storage of the data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Interpreting the relationship between data is difficult </a:t>
            </a: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Queries are less efficient</a:t>
            </a: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Harder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browse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is widely used to store and exchange semi-structured data.</a:t>
            </a: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Exchange Model (OEM) can be used to store and exchange semi-structured data. OEM structures data in form of graph.</a:t>
            </a:r>
            <a:endParaRPr lang="pl-PL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specially designed to store semi-structured data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RDBMS can be used to store the data by mapping the data to relational schema and then mapping it to a table</a:t>
            </a:r>
            <a:r>
              <a:rPr lang="pl-PL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sz="1200" dirty="0"/>
          </a:p>
          <a:p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3767411447"/>
      </p:ext>
    </p:extLst>
  </p:cSld>
  <p:clrMapOvr>
    <a:masterClrMapping/>
  </p:clrMapOvr>
  <p:transition>
    <p:randomBa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299763-4A7F-4865-B710-B5DE48E8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RDF – Resource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Description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791F4E6-AF82-4E28-9608-D916158A8E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Framework for </a:t>
            </a:r>
            <a:r>
              <a:rPr lang="pl-PL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semantics</a:t>
            </a:r>
            <a:endParaRPr lang="pl-PL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ethod</a:t>
            </a:r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describing Web resources</a:t>
            </a:r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pl-PL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</a:t>
            </a:r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data. </a:t>
            </a:r>
            <a:r>
              <a:rPr lang="pl-PL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Specifically</a:t>
            </a:r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 to </a:t>
            </a:r>
            <a:r>
              <a:rPr lang="pl-PL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meaning</a:t>
            </a:r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3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allongside</a:t>
            </a:r>
            <a:r>
              <a:rPr lang="pl-PL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pl-PL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endParaRPr lang="pl-PL" dirty="0"/>
          </a:p>
          <a:p>
            <a:endParaRPr lang="pl-PL" dirty="0"/>
          </a:p>
          <a:p>
            <a:r>
              <a:rPr lang="pl-PL" sz="3000" dirty="0"/>
              <a:t>RDF </a:t>
            </a:r>
            <a:r>
              <a:rPr lang="pl-PL" sz="3000" dirty="0" err="1"/>
              <a:t>Triples</a:t>
            </a:r>
            <a:endParaRPr lang="pl-PL" sz="2600" dirty="0"/>
          </a:p>
          <a:p>
            <a:pPr marL="0" indent="0">
              <a:buNone/>
            </a:pPr>
            <a:endParaRPr lang="pl-PL" sz="3000" dirty="0"/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A0328BB5-3A55-4AFC-929F-634732447C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438" y="4554434"/>
            <a:ext cx="5759762" cy="1211281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D7C6564A-F539-4B4E-B664-F7B5A5111A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3286" y="5757817"/>
            <a:ext cx="867591" cy="939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83741"/>
      </p:ext>
    </p:extLst>
  </p:cSld>
  <p:clrMapOvr>
    <a:masterClrMapping/>
  </p:clrMapOvr>
  <p:transition>
    <p:randomBa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01F7E5-A8D4-4E4B-8BC9-8EC07961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RDF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BFA610-D077-4892-B3D7-9FF0D852C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&lt;Bob&gt; &lt;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a&gt; &lt;person&gt;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&lt;Bob&gt; &lt;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friend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of&gt; &lt;Alice&gt;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&lt;Bob&gt; &lt;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interested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in&gt; &lt;Mona Lisa&gt;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&lt;Leonardo da Vinci&gt;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&lt;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creator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of&gt;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&lt;the Mona Lisa&gt;</a:t>
            </a:r>
          </a:p>
          <a:p>
            <a:pPr marL="0" indent="0">
              <a:buNone/>
            </a:pP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94DAF5AB-0289-4D45-9877-236CDFA2FC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34"/>
          <a:stretch/>
        </p:blipFill>
        <p:spPr>
          <a:xfrm>
            <a:off x="6096000" y="2333624"/>
            <a:ext cx="5749850" cy="389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134A76C1-43AA-4F39-9BFA-A2206BBAE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053" y="5677909"/>
            <a:ext cx="867591" cy="939890"/>
          </a:xfrm>
          <a:prstGeom prst="rect">
            <a:avLst/>
          </a:prstGeom>
        </p:spPr>
      </p:pic>
      <p:sp>
        <p:nvSpPr>
          <p:cNvPr id="8" name="pole tekstowe 7">
            <a:extLst>
              <a:ext uri="{FF2B5EF4-FFF2-40B4-BE49-F238E27FC236}">
                <a16:creationId xmlns:a16="http://schemas.microsoft.com/office/drawing/2014/main" id="{12F685DB-99C8-437E-ACD1-C749D6D0CB78}"/>
              </a:ext>
            </a:extLst>
          </p:cNvPr>
          <p:cNvSpPr txBox="1"/>
          <p:nvPr/>
        </p:nvSpPr>
        <p:spPr>
          <a:xfrm>
            <a:off x="7212418" y="6282485"/>
            <a:ext cx="42561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200" i="1" dirty="0"/>
              <a:t>Source: https://www.w3.org/TR/rdf11-primer/</a:t>
            </a: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566485645"/>
      </p:ext>
    </p:extLst>
  </p:cSld>
  <p:clrMapOvr>
    <a:masterClrMapping/>
  </p:clrMapOvr>
  <p:transition>
    <p:randomBa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01F7E5-A8D4-4E4B-8BC9-8EC079615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RDF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Datatypes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FBFA610-D077-4892-B3D7-9FF0D852C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RDF / JSON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RDF / XML 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Wingdings" panose="05000000000000000000" pitchFamily="2" charset="2"/>
              </a:rPr>
              <a:t>  </a:t>
            </a:r>
            <a:endParaRPr lang="pl-PL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RDF / TTL „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turtle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”</a:t>
            </a:r>
          </a:p>
          <a:p>
            <a:pPr>
              <a:lnSpc>
                <a:spcPct val="106000"/>
              </a:lnSpc>
              <a:spcAft>
                <a:spcPts val="800"/>
              </a:spcAft>
            </a:pPr>
            <a:endParaRPr lang="pl-PL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endParaRPr lang="pl-PL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6000"/>
              </a:lnSpc>
              <a:spcAft>
                <a:spcPts val="800"/>
              </a:spcAft>
            </a:pP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SPARQL (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protocol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&amp; RDF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language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– </a:t>
            </a:r>
          </a:p>
          <a:p>
            <a:pPr marL="0" indent="0">
              <a:lnSpc>
                <a:spcPct val="106000"/>
              </a:lnSpc>
              <a:spcAft>
                <a:spcPts val="800"/>
              </a:spcAft>
              <a:buNone/>
            </a:pP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similar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and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let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Query and </a:t>
            </a:r>
            <a:r>
              <a:rPr lang="pl-PL" sz="1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explore</a:t>
            </a:r>
            <a:r>
              <a:rPr lang="pl-PL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RDF data.</a:t>
            </a:r>
          </a:p>
          <a:p>
            <a:pPr marL="0" indent="0">
              <a:buNone/>
            </a:pPr>
            <a:endParaRPr lang="pl-PL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raz 6">
            <a:extLst>
              <a:ext uri="{FF2B5EF4-FFF2-40B4-BE49-F238E27FC236}">
                <a16:creationId xmlns:a16="http://schemas.microsoft.com/office/drawing/2014/main" id="{134A76C1-43AA-4F39-9BFA-A2206BBAEA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5243" y="5718847"/>
            <a:ext cx="867591" cy="939890"/>
          </a:xfrm>
          <a:prstGeom prst="rect">
            <a:avLst/>
          </a:prstGeom>
        </p:spPr>
      </p:pic>
      <p:pic>
        <p:nvPicPr>
          <p:cNvPr id="8" name="Obraz 7" descr="Obraz zawierający tekst&#10;&#10;Opis wygenerowany automatycznie">
            <a:extLst>
              <a:ext uri="{FF2B5EF4-FFF2-40B4-BE49-F238E27FC236}">
                <a16:creationId xmlns:a16="http://schemas.microsoft.com/office/drawing/2014/main" id="{1C5BACBB-C7A4-404D-A956-6B5E7113922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49" y="1981200"/>
            <a:ext cx="6759575" cy="1085850"/>
          </a:xfrm>
          <a:prstGeom prst="rect">
            <a:avLst/>
          </a:prstGeom>
        </p:spPr>
      </p:pic>
      <p:pic>
        <p:nvPicPr>
          <p:cNvPr id="11" name="Obraz 10" descr="Obraz zawierający tekst&#10;&#10;Opis wygenerowany automatycznie">
            <a:extLst>
              <a:ext uri="{FF2B5EF4-FFF2-40B4-BE49-F238E27FC236}">
                <a16:creationId xmlns:a16="http://schemas.microsoft.com/office/drawing/2014/main" id="{1C9AD62F-3350-4345-A92B-1D29BE6820A4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33801"/>
            <a:ext cx="4657724" cy="2066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5049691"/>
      </p:ext>
    </p:extLst>
  </p:cSld>
  <p:clrMapOvr>
    <a:masterClrMapping/>
  </p:clrMapOvr>
  <p:transition>
    <p:randomBa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061973B-326E-4BBB-9361-DD4C1F8F0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-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eXtensible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Markup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14AA942-77B5-4026-AF68-89D9D8E016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format/data model for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sharing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between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systems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form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one form of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pl-PL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textual</a:t>
            </a:r>
            <a:endParaRPr lang="pl-PL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pl-PL" sz="2800" dirty="0"/>
          </a:p>
        </p:txBody>
      </p:sp>
      <p:pic>
        <p:nvPicPr>
          <p:cNvPr id="5" name="Obraz 4" descr="Obraz zawierający czarny, biały, ciemny, noc&#10;&#10;Opis wygenerowany automatycznie">
            <a:extLst>
              <a:ext uri="{FF2B5EF4-FFF2-40B4-BE49-F238E27FC236}">
                <a16:creationId xmlns:a16="http://schemas.microsoft.com/office/drawing/2014/main" id="{19F35FB4-43BB-429C-B66D-149F708200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5501640"/>
            <a:ext cx="1134110" cy="1134110"/>
          </a:xfrm>
          <a:prstGeom prst="rect">
            <a:avLst/>
          </a:prstGeom>
        </p:spPr>
      </p:pic>
      <p:pic>
        <p:nvPicPr>
          <p:cNvPr id="6" name="Obraz 5">
            <a:extLst>
              <a:ext uri="{FF2B5EF4-FFF2-40B4-BE49-F238E27FC236}">
                <a16:creationId xmlns:a16="http://schemas.microsoft.com/office/drawing/2014/main" id="{1C703673-2CE7-4F1B-A4E7-04850C2C132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92" y="3345815"/>
            <a:ext cx="6923575" cy="1250950"/>
          </a:xfrm>
          <a:prstGeom prst="rect">
            <a:avLst/>
          </a:prstGeom>
        </p:spPr>
      </p:pic>
      <p:pic>
        <p:nvPicPr>
          <p:cNvPr id="7" name="Obraz 6" descr="Obraz zawierający tekst&#10;&#10;Opis wygenerowany automatycznie">
            <a:extLst>
              <a:ext uri="{FF2B5EF4-FFF2-40B4-BE49-F238E27FC236}">
                <a16:creationId xmlns:a16="http://schemas.microsoft.com/office/drawing/2014/main" id="{7E421781-EE67-48BE-AAC9-F74FF0C55370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936" y="4984116"/>
            <a:ext cx="5532556" cy="1250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624625"/>
      </p:ext>
    </p:extLst>
  </p:cSld>
  <p:clrMapOvr>
    <a:masterClrMapping/>
  </p:clrMapOvr>
  <p:transition>
    <p:randomBa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BB0C8F2-DA77-4E30-B9A4-6A66D32FF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databases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79E917-3EF9-45DA-9DA8-F0B0121CC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„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XML database is a data persistence software system that allows data to be specified, and sometimes stored, in XML format. This data can be queried, transformed, exported and returned to a calling system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r>
              <a:rPr lang="pl-PL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l-PL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https://en.wikipedia.org/wiki/XML_database</a:t>
            </a:r>
            <a:r>
              <a:rPr lang="pl-PL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/>
            <a:endParaRPr lang="pl-P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pl-PL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algn="just"/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RDBMS (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xml-enable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r>
              <a:rPr lang="pl-PL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 algn="just"/>
            <a:r>
              <a:rPr lang="pl-PL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Native </a:t>
            </a:r>
            <a:r>
              <a:rPr lang="pl-PL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db</a:t>
            </a:r>
            <a:endParaRPr lang="pl-PL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l-PL" dirty="0"/>
          </a:p>
        </p:txBody>
      </p:sp>
      <p:pic>
        <p:nvPicPr>
          <p:cNvPr id="4" name="Obraz 3" descr="Obraz zawierający czarny, biały, ciemny, noc&#10;&#10;Opis wygenerowany automatycznie">
            <a:extLst>
              <a:ext uri="{FF2B5EF4-FFF2-40B4-BE49-F238E27FC236}">
                <a16:creationId xmlns:a16="http://schemas.microsoft.com/office/drawing/2014/main" id="{19EFFF73-718D-4F24-BC3A-DDA789C397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5501640"/>
            <a:ext cx="1134110" cy="1134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223030"/>
      </p:ext>
    </p:extLst>
  </p:cSld>
  <p:clrMapOvr>
    <a:masterClrMapping/>
  </p:clrMapOvr>
  <p:transition>
    <p:randomBa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5AAF67-62FF-4762-B132-B2BC8268F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 Query Language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FDB76C6-CED0-41DF-B448-020BFC91A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l-PL" sz="2800" dirty="0" err="1"/>
              <a:t>XQuery</a:t>
            </a:r>
            <a:r>
              <a:rPr lang="pl-PL" sz="2800" dirty="0"/>
              <a:t> - f</a:t>
            </a:r>
            <a:r>
              <a:rPr lang="en-US" sz="2800" dirty="0" err="1"/>
              <a:t>inding</a:t>
            </a:r>
            <a:r>
              <a:rPr lang="en-US" sz="2800" dirty="0"/>
              <a:t> and extracting elements and attributes from XML documents.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    XQuery is the language for querying XML data</a:t>
            </a:r>
          </a:p>
          <a:p>
            <a:r>
              <a:rPr lang="en-US" sz="2800" dirty="0"/>
              <a:t>    XQuery is supported by all major databases</a:t>
            </a:r>
          </a:p>
          <a:p>
            <a:r>
              <a:rPr lang="en-US" sz="2800" dirty="0"/>
              <a:t>    XQuery is a W3C Recommendation</a:t>
            </a:r>
          </a:p>
          <a:p>
            <a:endParaRPr lang="pl-PL" dirty="0"/>
          </a:p>
        </p:txBody>
      </p:sp>
      <p:pic>
        <p:nvPicPr>
          <p:cNvPr id="5" name="Obraz 4" descr="Obraz zawierający czarny, biały, ciemny, noc&#10;&#10;Opis wygenerowany automatycznie">
            <a:extLst>
              <a:ext uri="{FF2B5EF4-FFF2-40B4-BE49-F238E27FC236}">
                <a16:creationId xmlns:a16="http://schemas.microsoft.com/office/drawing/2014/main" id="{02F8B886-08AA-4BDB-B356-8CEA0803F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28960" y="5501640"/>
            <a:ext cx="1134110" cy="1134110"/>
          </a:xfrm>
          <a:prstGeom prst="rect">
            <a:avLst/>
          </a:prstGeom>
        </p:spPr>
      </p:pic>
      <p:pic>
        <p:nvPicPr>
          <p:cNvPr id="6" name="Obraz 5" descr="Obraz zawierający tekst&#10;&#10;Opis wygenerowany automatycznie">
            <a:extLst>
              <a:ext uri="{FF2B5EF4-FFF2-40B4-BE49-F238E27FC236}">
                <a16:creationId xmlns:a16="http://schemas.microsoft.com/office/drawing/2014/main" id="{BFC5CF6F-0340-48BB-9F23-BFDD5B74318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8986" y="4995864"/>
            <a:ext cx="3688316" cy="1458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002837"/>
      </p:ext>
    </p:extLst>
  </p:cSld>
  <p:clrMapOvr>
    <a:masterClrMapping/>
  </p:clrMapOvr>
  <p:transition>
    <p:randomBa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17D7571-61C9-4592-94BD-ED326B94C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pl-PL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Discussions</a:t>
            </a:r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Symbol zastępczy zawartości 4">
            <a:extLst>
              <a:ext uri="{FF2B5EF4-FFF2-40B4-BE49-F238E27FC236}">
                <a16:creationId xmlns:a16="http://schemas.microsoft.com/office/drawing/2014/main" id="{7FBA65E7-6D4F-4863-A2ED-D6BB4583CE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9400" y="3240088"/>
            <a:ext cx="2143125" cy="2143125"/>
          </a:xfrm>
        </p:spPr>
      </p:pic>
    </p:spTree>
    <p:extLst>
      <p:ext uri="{BB962C8B-B14F-4D97-AF65-F5344CB8AC3E}">
        <p14:creationId xmlns:p14="http://schemas.microsoft.com/office/powerpoint/2010/main" val="2678747927"/>
      </p:ext>
    </p:extLst>
  </p:cSld>
  <p:clrMapOvr>
    <a:masterClrMapping/>
  </p:clrMapOvr>
  <p:transition>
    <p:randomBa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D0035E-3055-462E-89DA-A295EBF38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 err="1"/>
              <a:t>Sources</a:t>
            </a:r>
            <a:endParaRPr lang="pl-PL" dirty="0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5B16535-7718-4A7A-9570-A4D8E39EE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Practical RDF: Solving Problems with the Resource Description Framework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</a:t>
            </a:r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Shelley Powers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2003</a:t>
            </a:r>
          </a:p>
          <a:p>
            <a:r>
              <a:rPr lang="en-U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Principles of Distributed Database Systems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</a:t>
            </a:r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M. Tamer Özsu • Patrick Valduriez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III </a:t>
            </a:r>
            <a:r>
              <a:rPr lang="pl-PL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edition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 2011</a:t>
            </a:r>
          </a:p>
          <a:p>
            <a:r>
              <a:rPr lang="es-ES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Physical Database Design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Sam </a:t>
            </a:r>
            <a:r>
              <a:rPr lang="pl-PL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Lightstone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Toby </a:t>
            </a:r>
            <a:r>
              <a:rPr lang="pl-PL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Teorey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Tom </a:t>
            </a:r>
            <a:r>
              <a:rPr lang="pl-PL" sz="20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Nadeau</a:t>
            </a:r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2007</a:t>
            </a:r>
            <a:endParaRPr lang="es-ES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2000" dirty="0">
              <a:solidFill>
                <a:srgbClr val="FFD9AF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pl-PL" sz="2000" dirty="0">
              <a:solidFill>
                <a:srgbClr val="FFD9AF"/>
              </a:solidFill>
              <a:latin typeface="Times New Roman" panose="02020603050405020304" pitchFamily="18" charset="0"/>
              <a:cs typeface="Times New Roman" panose="02020603050405020304" pitchFamily="18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https://en.wikipedia.org/wiki/XML_database</a:t>
            </a:r>
          </a:p>
          <a:p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https://www.w3.org/</a:t>
            </a:r>
          </a:p>
          <a:p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https://www.w3schools.com/xml/xquery_intro.asp</a:t>
            </a:r>
          </a:p>
          <a:p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https://onlineappsdba.com/index.php/2020/10/21/structured-data-vs-unstructured-data-vs-semi-structured-data/</a:t>
            </a:r>
            <a:endParaRPr lang="pl-PL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https://www.geeksforgeeks.org/what-is-semi-structured-data/</a:t>
            </a:r>
            <a:endParaRPr lang="pl-PL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l-PL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https://www.scibite.com/news/scibite-rdf-resource-description-framework-a-natural-semantic-fit/</a:t>
            </a:r>
            <a:endParaRPr lang="pl-PL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31654"/>
      </p:ext>
    </p:extLst>
  </p:cSld>
  <p:clrMapOvr>
    <a:masterClrMapping/>
  </p:clrMapOvr>
  <p:transition>
    <p:randomBa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25C0C36-03FB-4734-8465-E9A12A4E1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4918" y="3300415"/>
            <a:ext cx="11233149" cy="1014410"/>
          </a:xfrm>
        </p:spPr>
        <p:txBody>
          <a:bodyPr/>
          <a:lstStyle/>
          <a:p>
            <a:pPr marL="0" indent="0" algn="ctr">
              <a:buNone/>
            </a:pPr>
            <a:r>
              <a:rPr lang="pl-PL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69754650"/>
      </p:ext>
    </p:extLst>
  </p:cSld>
  <p:clrMapOvr>
    <a:masterClrMapping/>
  </p:clrMapOvr>
  <p:transition>
    <p:randomBar/>
  </p:transition>
</p:sld>
</file>

<file path=ppt/theme/theme1.xml><?xml version="1.0" encoding="utf-8"?>
<a:theme xmlns:a="http://schemas.openxmlformats.org/drawingml/2006/main" name="prezentacja-en">
  <a:themeElements>
    <a:clrScheme name="1_Projekt domyślny 1">
      <a:dk1>
        <a:srgbClr val="000000"/>
      </a:dk1>
      <a:lt1>
        <a:srgbClr val="FFFFFF"/>
      </a:lt1>
      <a:dk2>
        <a:srgbClr val="FFEBD5"/>
      </a:dk2>
      <a:lt2>
        <a:srgbClr val="78120A"/>
      </a:lt2>
      <a:accent1>
        <a:srgbClr val="E32213"/>
      </a:accent1>
      <a:accent2>
        <a:srgbClr val="FFD3A1"/>
      </a:accent2>
      <a:accent3>
        <a:srgbClr val="FFFFFF"/>
      </a:accent3>
      <a:accent4>
        <a:srgbClr val="000000"/>
      </a:accent4>
      <a:accent5>
        <a:srgbClr val="EFABAA"/>
      </a:accent5>
      <a:accent6>
        <a:srgbClr val="E7BF91"/>
      </a:accent6>
      <a:hlink>
        <a:srgbClr val="FFD9AF"/>
      </a:hlink>
      <a:folHlink>
        <a:srgbClr val="FFB25D"/>
      </a:folHlink>
    </a:clrScheme>
    <a:fontScheme name="1_Projekt domyślny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Projekt domyślny 1">
        <a:dk1>
          <a:srgbClr val="000000"/>
        </a:dk1>
        <a:lt1>
          <a:srgbClr val="FFFFFF"/>
        </a:lt1>
        <a:dk2>
          <a:srgbClr val="FFEBD5"/>
        </a:dk2>
        <a:lt2>
          <a:srgbClr val="78120A"/>
        </a:lt2>
        <a:accent1>
          <a:srgbClr val="E32213"/>
        </a:accent1>
        <a:accent2>
          <a:srgbClr val="FFD3A1"/>
        </a:accent2>
        <a:accent3>
          <a:srgbClr val="FFFFFF"/>
        </a:accent3>
        <a:accent4>
          <a:srgbClr val="000000"/>
        </a:accent4>
        <a:accent5>
          <a:srgbClr val="EFABAA"/>
        </a:accent5>
        <a:accent6>
          <a:srgbClr val="E7BF91"/>
        </a:accent6>
        <a:hlink>
          <a:srgbClr val="FFD9AF"/>
        </a:hlink>
        <a:folHlink>
          <a:srgbClr val="FFB25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prezentacja-en</Template>
  <TotalTime>1426</TotalTime>
  <Words>673</Words>
  <Application>Microsoft Office PowerPoint</Application>
  <PresentationFormat>Panoramiczny</PresentationFormat>
  <Paragraphs>83</Paragraphs>
  <Slides>14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14</vt:i4>
      </vt:variant>
    </vt:vector>
  </HeadingPairs>
  <TitlesOfParts>
    <vt:vector size="18" baseType="lpstr">
      <vt:lpstr>Arial</vt:lpstr>
      <vt:lpstr>Times New Roman</vt:lpstr>
      <vt:lpstr>Trebuchet MS</vt:lpstr>
      <vt:lpstr>prezentacja-en</vt:lpstr>
      <vt:lpstr>Topic: Semi - structured, RDF, XML Databases</vt:lpstr>
      <vt:lpstr>Agenda</vt:lpstr>
      <vt:lpstr>Semi-structured data</vt:lpstr>
      <vt:lpstr>Characteristics  of Semi-structured data</vt:lpstr>
      <vt:lpstr>Problems and Solutions</vt:lpstr>
      <vt:lpstr>RDF – Resource Description Framework</vt:lpstr>
      <vt:lpstr>RDF graph</vt:lpstr>
      <vt:lpstr>RDF Datatypes</vt:lpstr>
      <vt:lpstr>XML - eXtensible Markup Language </vt:lpstr>
      <vt:lpstr>XML databases</vt:lpstr>
      <vt:lpstr>XML Query Language</vt:lpstr>
      <vt:lpstr>Questions/Discussions</vt:lpstr>
      <vt:lpstr>Sources</vt:lpstr>
      <vt:lpstr>Prezentacja programu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Semi-structured, RDF, XML Databases</dc:title>
  <dc:creator>Mateusz Guściora (228884)</dc:creator>
  <cp:lastModifiedBy>Mateusz Guściora (228884)</cp:lastModifiedBy>
  <cp:revision>50</cp:revision>
  <dcterms:created xsi:type="dcterms:W3CDTF">2021-10-13T07:21:55Z</dcterms:created>
  <dcterms:modified xsi:type="dcterms:W3CDTF">2021-10-20T14:50:17Z</dcterms:modified>
</cp:coreProperties>
</file>